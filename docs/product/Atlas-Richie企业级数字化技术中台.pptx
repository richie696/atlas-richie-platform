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开场先讲业务血统：这是从真实业务中长出来的底座，而不是为展示技术拼装的框架。</a:t>
            </a:r>
          </a:p>
          <a:p/>
          <a:p>
            <a:r>
              <a:t>[Sources]</a:t>
            </a:r>
          </a:p>
          <a:p>
            <a:r>
              <a:t>- User-provided business facts in conversation, 2026-08-18</a:t>
            </a:r>
          </a:p>
          <a:p>
            <a:r>
              <a:t>- Local asset: docs/assets/atlas-richie-logo.svg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这一页只建立一个判断：平台的价值是组织能力，而不是技术清单。</a:t>
            </a:r>
          </a:p>
          <a:p/>
          <a:p>
            <a:r>
              <a:t>[Sources]</a:t>
            </a:r>
          </a:p>
          <a:p>
            <a:r>
              <a:t>- docs/product/Atlas-Richie技术中台非技术化介绍-首版.md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强调时间线是经验沉淀过程。五年代表业务血统，不代表全部 2026 新模块已经运行五年。</a:t>
            </a:r>
          </a:p>
          <a:p/>
          <a:p>
            <a:r>
              <a:t>[Sources]</a:t>
            </a:r>
          </a:p>
          <a:p>
            <a:r>
              <a:t>- User-provided business facts in conversation, 2026-08-18</a:t>
            </a:r>
          </a:p>
          <a:p>
            <a:r>
              <a:t>- CHANGELOG.zh.md</a:t>
            </a:r>
          </a:p>
          <a:p>
            <a:r>
              <a:t>- git history in local repository through 2026-08-18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用非技术语言说明为什么需要中台：不是为了统一而统一，而是降低长期复杂度。</a:t>
            </a:r>
          </a:p>
          <a:p/>
          <a:p>
            <a:r>
              <a:t>[Sources]</a:t>
            </a:r>
          </a:p>
          <a:p>
            <a:r>
              <a:t>- docs/product/Atlas-Richie技术中台非技术化介绍-首版.md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用四层结构帮助非技术负责人理解平台边界。模块数量只作为工程广度证据，不作为价值本身。</a:t>
            </a:r>
          </a:p>
          <a:p/>
          <a:p>
            <a:r>
              <a:t>[Sources]</a:t>
            </a:r>
          </a:p>
          <a:p>
            <a:r>
              <a:t>- pom.xml</a:t>
            </a:r>
          </a:p>
          <a:p>
            <a:r>
              <a:t>- atlas-richie-component/pom.xml</a:t>
            </a:r>
          </a:p>
          <a:p>
            <a:r>
              <a:t>- atlas-richie-component/README.zh.md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把护城河从技术品牌转向业务决策模型：隔离、重试、一致性、灰度和权限。</a:t>
            </a:r>
          </a:p>
          <a:p/>
          <a:p>
            <a:r>
              <a:t>[Sources]</a:t>
            </a:r>
          </a:p>
          <a:p>
            <a:r>
              <a:t>- docs/product/Atlas-Richie技术中台非技术化介绍-首版.md</a:t>
            </a:r>
          </a:p>
          <a:p>
            <a:r>
              <a:t>- atlas-richie-component/atlas-richie-tenant-parent/README.zh.md</a:t>
            </a:r>
          </a:p>
          <a:p>
            <a:r>
              <a:t>- atlas-richie-component/atlas-richie-statemachine/README.zh.md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强调网关是统一治理入口，而不是简单转发。请求编号和稳定错误协议降低跨团队排障成本。</a:t>
            </a:r>
          </a:p>
          <a:p/>
          <a:p>
            <a:r>
              <a:t>[Sources]</a:t>
            </a:r>
          </a:p>
          <a:p>
            <a:r>
              <a:t>- atlas-richie-gateway-service/README.zh.md</a:t>
            </a:r>
          </a:p>
          <a:p>
            <a:r>
              <a:t>- atlas-richie-gateway-service/src/main/java/cn/richie696/gateway/filter/common/infrastructure/RequestIdGlobalFilter.java</a:t>
            </a:r>
          </a:p>
          <a:p>
            <a:r>
              <a:t>- atlas-richie-gateway-service/src/main/java/cn/richie696/gateway/error/GatewayErrorRegistry.java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门店级灰度是最容易被企业负责人理解的业务价值：降低全量发布风险。</a:t>
            </a:r>
          </a:p>
          <a:p/>
          <a:p>
            <a:r>
              <a:t>[Sources]</a:t>
            </a:r>
          </a:p>
          <a:p>
            <a:r>
              <a:t>- atlas-richie-gateway-service/docs/zh/canary-store-dimension.md</a:t>
            </a:r>
          </a:p>
          <a:p>
            <a:r>
              <a:t>- atlas-richie-gateway-service/src/main/java/cn/richie696/gateway/balancer/CanaryLoadBalancer.java</a:t>
            </a:r>
          </a:p>
          <a:p>
            <a:r>
              <a:t>- User-provided approximately 10,000-store scale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说明五种隔离模式不是技术炫技，而是按客户价值、数据规模和合规要求分层交付。</a:t>
            </a:r>
          </a:p>
          <a:p/>
          <a:p>
            <a:r>
              <a:t>[Sources]</a:t>
            </a:r>
          </a:p>
          <a:p>
            <a:r>
              <a:t>- atlas-richie-component/atlas-richie-tenant-parent/README.zh.md</a:t>
            </a:r>
          </a:p>
          <a:p>
            <a:r>
              <a:t>- atlas-richie-component/atlas-richie-tenant-parent/atlas-richie-tenant-core/src/main/java/cn/richie696/component/tenant/web/TenantIdentityFilter.java</a:t>
            </a:r>
          </a:p>
          <a:p>
            <a:r>
              <a:t>- atlas-richie-component/atlas-richie-tenant-parent/atlas-richie-tenant-core/src/main/java/cn/richie696/component/tenant/context/TenantContext.java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缓存链路和性能守卫说明平台不是简单封装 Redis，而是把事故经验变成运行时治理。</a:t>
            </a:r>
          </a:p>
          <a:p/>
          <a:p>
            <a:r>
              <a:t>[Sources]</a:t>
            </a:r>
          </a:p>
          <a:p>
            <a:r>
              <a:t>- atlas-richie-component/atlas-richie-cache/docs/zh/Redis-L2与性能守卫设计说明.md</a:t>
            </a:r>
          </a:p>
          <a:p>
            <a:r>
              <a:t>- atlas-richie-component/atlas-richie-cache/docs/zh/缓存核心能力功能.md</a:t>
            </a:r>
          </a:p>
          <a:p>
            <a:r>
              <a:t>- atlas-richie-component/atlas-richie-cache/src/main/java/cn/richie696/component/cache/redis/perf/RedisPerfGuard.java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强调可靠消息关注重复、失败和恢复，而不仅是消息平台品牌。</a:t>
            </a:r>
          </a:p>
          <a:p/>
          <a:p>
            <a:r>
              <a:t>[Sources]</a:t>
            </a:r>
          </a:p>
          <a:p>
            <a:r>
              <a:t>- atlas-richie-component/atlas-richie-messaging-parent/README.zh.md</a:t>
            </a:r>
          </a:p>
          <a:p>
            <a:r>
              <a:t>- atlas-richie-component/atlas-richie-redis-streammq/README.zh.md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状态机的价值是把流程规则集中管理，并允许普通状态与关键状态选择不同一致性级别。</a:t>
            </a:r>
          </a:p>
          <a:p/>
          <a:p>
            <a:r>
              <a:t>[Sources]</a:t>
            </a:r>
          </a:p>
          <a:p>
            <a:r>
              <a:t>- atlas-richie-component/atlas-richie-statemachine/README.zh.md</a:t>
            </a:r>
          </a:p>
          <a:p>
            <a:r>
              <a:t>- atlas-richie-component/atlas-richie-statemachine/docs/一致性联调清单与配置模板.md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将安全讲成六道边界：身份、租户、接口、数据、文件和 AI。</a:t>
            </a:r>
          </a:p>
          <a:p/>
          <a:p>
            <a:r>
              <a:t>[Sources]</a:t>
            </a:r>
          </a:p>
          <a:p>
            <a:r>
              <a:t>- atlas-richie-component/atlas-richie-oauth-parent/README.zh.md</a:t>
            </a:r>
          </a:p>
          <a:p>
            <a:r>
              <a:t>- atlas-richie-component/atlas-richie-mfa-parent/README.zh.md</a:t>
            </a:r>
          </a:p>
          <a:p>
            <a:r>
              <a:t>- atlas-richie-component/atlas-richie-desensitize-parent/README.zh.md</a:t>
            </a:r>
          </a:p>
          <a:p>
            <a:r>
              <a:t>- atlas-richie-antivirus-service/README.zh.md</a:t>
            </a:r>
          </a:p>
          <a:p>
            <a:r>
              <a:t>- atlas-richie-component/atlas-richie-document-parser/README.zh.md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说明同一条文件流水线既服务附件安全，也服务企业知识库。</a:t>
            </a:r>
          </a:p>
          <a:p/>
          <a:p>
            <a:r>
              <a:t>[Sources]</a:t>
            </a:r>
          </a:p>
          <a:p>
            <a:r>
              <a:t>- atlas-richie-antivirus-service/README.zh.md</a:t>
            </a:r>
          </a:p>
          <a:p>
            <a:r>
              <a:t>- atlas-richie-component/atlas-richie-storage-parent/README.zh.md</a:t>
            </a:r>
          </a:p>
          <a:p>
            <a:r>
              <a:t>- atlas-richie-component/atlas-richie-document-parser/README.zh.md</a:t>
            </a:r>
          </a:p>
          <a:p>
            <a:r>
              <a:t>- atlas-richie-component/atlas-richie-ocr-parent/README.zh.md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页不讲模型参数，强调数据、权限、版本和可替换性。MCP 明确标注为首版能力。</a:t>
            </a:r>
          </a:p>
          <a:p/>
          <a:p>
            <a:r>
              <a:t>[Sources]</a:t>
            </a:r>
          </a:p>
          <a:p>
            <a:r>
              <a:t>- atlas-richie-component/atlas-richie-ai/README.zh.md</a:t>
            </a:r>
          </a:p>
          <a:p>
            <a:r>
              <a:t>- atlas-richie-component/atlas-richie-vector-parent/README.zh.md</a:t>
            </a:r>
          </a:p>
          <a:p>
            <a:r>
              <a:t>- atlas-richie-component/atlas-richie-mcp-parent/docs/zh/mcp-component-design.md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讲清统一接口的经营价值：面对不同客户部署要求时，产品仍保持一套业务主干。</a:t>
            </a:r>
          </a:p>
          <a:p/>
          <a:p>
            <a:r>
              <a:t>[Sources]</a:t>
            </a:r>
          </a:p>
          <a:p>
            <a:r>
              <a:t>- atlas-richie-component/atlas-richie-storage-parent/README.zh.md</a:t>
            </a:r>
          </a:p>
          <a:p>
            <a:r>
              <a:t>- atlas-richie-component/atlas-richie-messaging-parent/README.zh.md</a:t>
            </a:r>
          </a:p>
          <a:p>
            <a:r>
              <a:t>- atlas-richie-component/atlas-richie-vector-parent/README.zh.md</a:t>
            </a:r>
          </a:p>
          <a:p>
            <a:r>
              <a:t>- atlas-richie-gateway-service/README.zh.md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把今年的代码变更归纳成五条业务化主线，不展示依赖版本清单。</a:t>
            </a:r>
          </a:p>
          <a:p/>
          <a:p>
            <a:r>
              <a:t>[Sources]</a:t>
            </a:r>
          </a:p>
          <a:p>
            <a:r>
              <a:t>- CHANGELOG.zh.md</a:t>
            </a:r>
          </a:p>
          <a:p>
            <a:r>
              <a:t>- local git history from 2026-05-26 to 2026-08-18</a:t>
            </a:r>
          </a:p>
          <a:p>
            <a:r>
              <a:t>- docs/product/Atlas-Richie技术中台非技术化介绍-首版.md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用五个场景帮助决策者映射自身业务，避免继续展开组件清单。</a:t>
            </a:r>
          </a:p>
          <a:p/>
          <a:p>
            <a:r>
              <a:t>[Sources]</a:t>
            </a:r>
          </a:p>
          <a:p>
            <a:r>
              <a:t>- docs/product/Atlas-Richie技术中台非技术化介绍-首版.md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落地建议采用高价值试点和渐进迁移，避免将中台变成一次性大项目。</a:t>
            </a:r>
          </a:p>
          <a:p/>
          <a:p>
            <a:r>
              <a:t>[Sources]</a:t>
            </a:r>
          </a:p>
          <a:p>
            <a:r>
              <a:t>- docs/product/Atlas-Richie技术中台非技术化介绍-首版.md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结束时回到开场：平台让经验持续复用。建议以一个高价值场景启动联合评估。</a:t>
            </a:r>
          </a:p>
          <a:p/>
          <a:p>
            <a:r>
              <a:t>[Sources]</a:t>
            </a:r>
          </a:p>
          <a:p>
            <a:r>
              <a:t>- docs/product/Atlas-Richie技术中台非技术化介绍-首版.md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附录用于回答工程规模问题。数字来自当前仓库静态扫描，不等于全量生产验收。</a:t>
            </a:r>
          </a:p>
          <a:p/>
          <a:p>
            <a:r>
              <a:t>[Sources]</a:t>
            </a:r>
          </a:p>
          <a:p>
            <a:r>
              <a:t>- Local static scan of repository on 2026-08-18</a:t>
            </a:r>
          </a:p>
          <a:p>
            <a:r>
              <a:t>- pom.xml and nested pom.xml module declarations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售前统一口径：保留真实餐饮高峰时延，但不把它包装成中台对所有业务的 QPS/TPS 或 SLA 承诺。</a:t>
            </a:r>
          </a:p>
          <a:p/>
          <a:p>
            <a:r>
              <a:t>[Sources]</a:t>
            </a:r>
          </a:p>
          <a:p>
            <a:r>
              <a:t>- User-provided production facts and responsibility boundaries, 2026-08-18</a:t>
            </a:r>
          </a:p>
          <a:p>
            <a:r>
              <a:t>- docs/product/Atlas-Richie企业级数字化技术中台-首版.pdf.md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客户页用于证明业务来源与长期场景验证。正式对外使用客户名称、Logo 或案例细节前，应由业务方完成授权和公开口径确认。</a:t>
            </a:r>
          </a:p>
          <a:p/>
          <a:p>
            <a:r>
              <a:t>[Sources]</a:t>
            </a:r>
          </a:p>
          <a:p>
            <a:r>
              <a:t>- https://www.rydeen.com.cn</a:t>
            </a:r>
          </a:p>
          <a:p>
            <a:r>
              <a:t>- User-provided customer screenshot, 2026-08-18</a:t>
            </a:r>
          </a:p>
          <a:p>
            <a:r>
              <a:t>- User-provided additional customer list, 2026-08-18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810500" y="0"/>
            <a:ext cx="4381500" cy="6858000"/>
          </a:xfrm>
          <a:prstGeom prst="rect">
            <a:avLst/>
          </a:prstGeom>
          <a:solidFill>
            <a:srgbClr val="091A2B"/>
          </a:soli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810500" y="0"/>
            <a:ext cx="0" cy="6858000"/>
          </a:xfrm>
          <a:prstGeom prst="line">
            <a:avLst/>
          </a:prstGeom>
          <a:noFill/>
          <a:ln w="28575">
            <a:solidFill>
              <a:srgbClr val="36D6C2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3400"/>
            <a:ext cx="2781300" cy="69532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85800" y="2038350"/>
            <a:ext cx="647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350" b="1">
                <a:solidFill>
                  <a:srgbClr val="F5F9FC"/>
                </a:solidFill>
              </a:defRPr>
            </a:pPr>
            <a:r>
              <a:rPr sz="4350" b="1">
                <a:solidFill>
                  <a:srgbClr val="F5F9FC"/>
                </a:solidFill>
              </a:rPr>
              <a:t>企业级数字化技术中台</a:t>
            </a:r>
            <a:endParaRPr sz="4350" b="1">
              <a:solidFill>
                <a:srgbClr val="F5F9F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2857500"/>
            <a:ext cx="6572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0">
                <a:solidFill>
                  <a:srgbClr val="D9E6EF"/>
                </a:solidFill>
              </a:defRPr>
            </a:pPr>
            <a:r>
              <a:rPr sz="2325" b="0">
                <a:solidFill>
                  <a:srgbClr val="D9E6EF"/>
                </a:solidFill>
              </a:rPr>
              <a:t>从万店级 ToC 与数亿级 ToB 实战中</a:t>
            </a:r>
            <a:endParaRPr sz="2325" b="0">
              <a:solidFill>
                <a:srgbClr val="D9E6EF"/>
              </a:solidFill>
            </a:endParaRPr>
          </a:p>
          <a:p>
            <a:pPr algn="l">
              <a:defRPr sz="2325" b="0">
                <a:solidFill>
                  <a:srgbClr val="D9E6EF"/>
                </a:solidFill>
              </a:defRPr>
            </a:pPr>
            <a:r>
              <a:rPr sz="2325" b="0">
                <a:solidFill>
                  <a:srgbClr val="D9E6EF"/>
                </a:solidFill>
              </a:rPr>
              <a:t>生长出来的企业数字底座</a:t>
            </a:r>
            <a:endParaRPr sz="2325" b="0">
              <a:solidFill>
                <a:srgbClr val="D9E6E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4305300"/>
            <a:ext cx="781050" cy="47625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4533900"/>
            <a:ext cx="647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8EA8BA"/>
                </a:solidFill>
              </a:defRPr>
            </a:pPr>
            <a:r>
              <a:rPr sz="1500" b="0">
                <a:solidFill>
                  <a:srgbClr val="8EA8BA"/>
                </a:solidFill>
              </a:rPr>
              <a:t>五年运营沉淀 · 面向长期演进 · 支撑业务持续增长</a:t>
            </a:r>
            <a:endParaRPr sz="1500" b="0">
              <a:solidFill>
                <a:srgbClr val="8EA8B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05800" y="1476375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36D6C2"/>
                </a:solidFill>
              </a:defRPr>
            </a:pPr>
            <a:r>
              <a:rPr sz="3150" b="1">
                <a:solidFill>
                  <a:srgbClr val="36D6C2"/>
                </a:solidFill>
              </a:rPr>
              <a:t>5 年</a:t>
            </a:r>
            <a:endParaRPr sz="3150" b="1">
              <a:solidFill>
                <a:srgbClr val="36D6C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05800" y="2009775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6EF"/>
                </a:solidFill>
              </a:defRPr>
            </a:pPr>
            <a:r>
              <a:rPr sz="1350" b="0">
                <a:solidFill>
                  <a:srgbClr val="D9E6EF"/>
                </a:solidFill>
              </a:rPr>
              <a:t>持续迭代与运营</a:t>
            </a:r>
            <a:endParaRPr sz="1350" b="0">
              <a:solidFill>
                <a:srgbClr val="D9E6EF"/>
              </a:solidFill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8305800" y="2571750"/>
            <a:ext cx="26670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305800" y="292417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8BB3FF"/>
                </a:solidFill>
              </a:defRPr>
            </a:pPr>
            <a:r>
              <a:rPr sz="3150" b="1">
                <a:solidFill>
                  <a:srgbClr val="8BB3FF"/>
                </a:solidFill>
              </a:rPr>
              <a:t>≈10,000</a:t>
            </a:r>
            <a:endParaRPr sz="3150" b="1">
              <a:solidFill>
                <a:srgbClr val="8BB3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05800" y="345757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6EF"/>
                </a:solidFill>
              </a:defRPr>
            </a:pPr>
            <a:r>
              <a:rPr sz="1350" b="0">
                <a:solidFill>
                  <a:srgbClr val="D9E6EF"/>
                </a:solidFill>
              </a:rPr>
              <a:t>门店级 ToC 实践</a:t>
            </a:r>
            <a:endParaRPr sz="1350" b="0">
              <a:solidFill>
                <a:srgbClr val="D9E6EF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8305800" y="4019550"/>
            <a:ext cx="26670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05800" y="4371975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FFB45C"/>
                </a:solidFill>
              </a:defRPr>
            </a:pPr>
            <a:r>
              <a:rPr sz="3150" b="1">
                <a:solidFill>
                  <a:srgbClr val="FFB45C"/>
                </a:solidFill>
              </a:rPr>
              <a:t>数亿级</a:t>
            </a:r>
            <a:endParaRPr sz="3150" b="1">
              <a:solidFill>
                <a:srgbClr val="FFB45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05800" y="4905375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6EF"/>
                </a:solidFill>
              </a:defRPr>
            </a:pPr>
            <a:r>
              <a:rPr sz="1350" b="0">
                <a:solidFill>
                  <a:srgbClr val="D9E6EF"/>
                </a:solidFill>
              </a:rPr>
              <a:t>ToB 数据体量</a:t>
            </a:r>
            <a:endParaRPr sz="1350" b="0">
              <a:solidFill>
                <a:srgbClr val="D9E6E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6334125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8EA8BA"/>
                </a:solidFill>
              </a:defRPr>
            </a:pPr>
            <a:r>
              <a:rPr sz="975" b="0">
                <a:solidFill>
                  <a:srgbClr val="8EA8BA"/>
                </a:solidFill>
              </a:rPr>
              <a:t>产品与售前首版 · 2026.08</a:t>
            </a:r>
            <a:endParaRPr sz="975" b="0">
              <a:solidFill>
                <a:srgbClr val="8EA8B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核心结论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2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我们交付的不是一个框架，而是一套长期运营能力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02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98120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36D6C2"/>
                </a:solidFill>
              </a:defRPr>
            </a:pPr>
            <a:r>
              <a:rPr sz="3900" b="1">
                <a:solidFill>
                  <a:srgbClr val="36D6C2"/>
                </a:solidFill>
              </a:rPr>
              <a:t>01</a:t>
            </a:r>
            <a:endParaRPr sz="3900" b="1">
              <a:solidFill>
                <a:srgbClr val="36D6C2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280987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F5F9FC"/>
                </a:solidFill>
              </a:defRPr>
            </a:pPr>
            <a:r>
              <a:rPr sz="2175" b="1">
                <a:solidFill>
                  <a:srgbClr val="F5F9FC"/>
                </a:solidFill>
              </a:rPr>
              <a:t>经验资产化</a:t>
            </a:r>
            <a:endParaRPr sz="2175" b="1">
              <a:solidFill>
                <a:srgbClr val="F5F9FC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23900" y="3305175"/>
            <a:ext cx="2952750" cy="0"/>
          </a:xfrm>
          <a:prstGeom prst="line">
            <a:avLst/>
          </a:prstGeom>
          <a:noFill/>
          <a:ln w="28575">
            <a:solidFill>
              <a:srgbClr val="36D6C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3581400"/>
            <a:ext cx="30480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把五年业务实践中反复验证的判断，沉淀为企业可持续拥有的资产。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19600" y="198120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8BB3FF"/>
                </a:solidFill>
              </a:defRPr>
            </a:pPr>
            <a:r>
              <a:rPr sz="3900" b="1">
                <a:solidFill>
                  <a:srgbClr val="8BB3FF"/>
                </a:solidFill>
              </a:rPr>
              <a:t>02</a:t>
            </a:r>
            <a:endParaRPr sz="3900" b="1">
              <a:solidFill>
                <a:srgbClr val="8BB3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19600" y="280987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F5F9FC"/>
                </a:solidFill>
              </a:defRPr>
            </a:pPr>
            <a:r>
              <a:rPr sz="2175" b="1">
                <a:solidFill>
                  <a:srgbClr val="F5F9FC"/>
                </a:solidFill>
              </a:rPr>
              <a:t>能力平台化</a:t>
            </a:r>
            <a:endParaRPr sz="2175" b="1">
              <a:solidFill>
                <a:srgbClr val="F5F9FC"/>
              </a:solidFill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419600" y="3305175"/>
            <a:ext cx="2952750" cy="0"/>
          </a:xfrm>
          <a:prstGeom prst="line">
            <a:avLst/>
          </a:prstGeom>
          <a:noFill/>
          <a:ln w="28575">
            <a:solidFill>
              <a:srgbClr val="8BB3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419600" y="3581400"/>
            <a:ext cx="30480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稳定、安全、扩展和治理不再依赖个人记忆，而由平台机制持续执行。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15300" y="198120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FFB45C"/>
                </a:solidFill>
              </a:defRPr>
            </a:pPr>
            <a:r>
              <a:rPr sz="3900" b="1">
                <a:solidFill>
                  <a:srgbClr val="FFB45C"/>
                </a:solidFill>
              </a:rPr>
              <a:t>03</a:t>
            </a:r>
            <a:endParaRPr sz="3900" b="1">
              <a:solidFill>
                <a:srgbClr val="FFB45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15300" y="280987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F5F9FC"/>
                </a:solidFill>
              </a:defRPr>
            </a:pPr>
            <a:r>
              <a:rPr sz="2175" b="1">
                <a:solidFill>
                  <a:srgbClr val="F5F9FC"/>
                </a:solidFill>
              </a:rPr>
              <a:t>风险提前处理</a:t>
            </a:r>
            <a:endParaRPr sz="2175" b="1">
              <a:solidFill>
                <a:srgbClr val="F5F9FC"/>
              </a:solidFill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8115300" y="3305175"/>
            <a:ext cx="2952750" cy="0"/>
          </a:xfrm>
          <a:prstGeom prst="line">
            <a:avLst/>
          </a:prstGeom>
          <a:noFill/>
          <a:ln w="28575">
            <a:solidFill>
              <a:srgbClr val="FFB45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15300" y="3581400"/>
            <a:ext cx="30480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配置与统一外观复用复杂能力，把生产风险前置处理，老系统仍可渐进治理。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3900" y="5381625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F5F9FC"/>
                </a:solidFill>
              </a:defRPr>
            </a:pPr>
            <a:r>
              <a:rPr sz="2100" b="1">
                <a:solidFill>
                  <a:srgbClr val="F5F9FC"/>
                </a:solidFill>
              </a:rPr>
              <a:t>让每个项目少踩重复的坑，把事故经验变成默认保护。</a:t>
            </a:r>
            <a:endParaRPr sz="2100" b="1">
              <a:solidFill>
                <a:srgbClr val="F5F9F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业务血统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3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不是实验室架构，而是被真实业务持续打磨的结果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03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1047750" y="3352800"/>
            <a:ext cx="9144000" cy="0"/>
          </a:xfrm>
          <a:prstGeom prst="line">
            <a:avLst/>
          </a:prstGeom>
          <a:noFill/>
          <a:ln w="57150">
            <a:solidFill>
              <a:srgbClr val="23445C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923925" y="3228975"/>
            <a:ext cx="247650" cy="247650"/>
          </a:xfrm>
          <a:prstGeom prst="ellipse">
            <a:avLst/>
          </a:prstGeom>
          <a:solidFill>
            <a:srgbClr val="8EA8BA"/>
          </a:solidFill>
          <a:ln w="38100">
            <a:solidFill>
              <a:srgbClr val="06111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09550" y="2066925"/>
            <a:ext cx="1676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8EA8BA"/>
                </a:solidFill>
              </a:defRPr>
            </a:pPr>
            <a:r>
              <a:rPr sz="1200" b="1">
                <a:solidFill>
                  <a:srgbClr val="8EA8BA"/>
                </a:solidFill>
              </a:rPr>
              <a:t>第 1 阶段</a:t>
            </a:r>
            <a:endParaRPr sz="1200" b="1">
              <a:solidFill>
                <a:srgbClr val="8EA8B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" y="240030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5F9FC"/>
                </a:solidFill>
              </a:defRPr>
            </a:pPr>
            <a:r>
              <a:rPr sz="1875" b="1">
                <a:solidFill>
                  <a:srgbClr val="F5F9FC"/>
                </a:solidFill>
              </a:rPr>
              <a:t>业务上线</a:t>
            </a:r>
            <a:endParaRPr sz="1875" b="1">
              <a:solidFill>
                <a:srgbClr val="F5F9FC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71450" y="3638550"/>
            <a:ext cx="1752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解决能否交付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3209925" y="3228975"/>
            <a:ext cx="247650" cy="247650"/>
          </a:xfrm>
          <a:prstGeom prst="ellipse">
            <a:avLst/>
          </a:prstGeom>
          <a:solidFill>
            <a:srgbClr val="8BB3FF"/>
          </a:solidFill>
          <a:ln w="38100">
            <a:solidFill>
              <a:srgbClr val="06111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495550" y="2066925"/>
            <a:ext cx="1676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8BB3FF"/>
                </a:solidFill>
              </a:defRPr>
            </a:pPr>
            <a:r>
              <a:rPr sz="1200" b="1">
                <a:solidFill>
                  <a:srgbClr val="8BB3FF"/>
                </a:solidFill>
              </a:rPr>
              <a:t>持续增长</a:t>
            </a:r>
            <a:endParaRPr sz="1200" b="1">
              <a:solidFill>
                <a:srgbClr val="8BB3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381250" y="240030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5F9FC"/>
                </a:solidFill>
              </a:defRPr>
            </a:pPr>
            <a:r>
              <a:rPr sz="1875" b="1">
                <a:solidFill>
                  <a:srgbClr val="F5F9FC"/>
                </a:solidFill>
              </a:rPr>
              <a:t>规模扩张</a:t>
            </a:r>
            <a:endParaRPr sz="1875" b="1">
              <a:solidFill>
                <a:srgbClr val="F5F9FC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457450" y="3638550"/>
            <a:ext cx="1752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门店、客户、数据同步增长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5495925" y="3228975"/>
            <a:ext cx="247650" cy="247650"/>
          </a:xfrm>
          <a:prstGeom prst="ellipse">
            <a:avLst/>
          </a:prstGeom>
          <a:solidFill>
            <a:srgbClr val="36D6C2"/>
          </a:solidFill>
          <a:ln w="38100">
            <a:solidFill>
              <a:srgbClr val="06111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781550" y="2066925"/>
            <a:ext cx="1676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稳定运营</a:t>
            </a:r>
            <a:endParaRPr sz="1200" b="1">
              <a:solidFill>
                <a:srgbClr val="36D6C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67250" y="240030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5F9FC"/>
                </a:solidFill>
              </a:defRPr>
            </a:pPr>
            <a:r>
              <a:rPr sz="1875" b="1">
                <a:solidFill>
                  <a:srgbClr val="F5F9FC"/>
                </a:solidFill>
              </a:rPr>
              <a:t>治理沉淀</a:t>
            </a:r>
            <a:endParaRPr sz="1875" b="1">
              <a:solidFill>
                <a:srgbClr val="F5F9FC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43450" y="3638550"/>
            <a:ext cx="1752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故障、性能与安全机制化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7781925" y="3228975"/>
            <a:ext cx="247650" cy="247650"/>
          </a:xfrm>
          <a:prstGeom prst="ellipse">
            <a:avLst/>
          </a:prstGeom>
          <a:solidFill>
            <a:srgbClr val="5FE0A1"/>
          </a:solidFill>
          <a:ln w="38100">
            <a:solidFill>
              <a:srgbClr val="06111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067550" y="2066925"/>
            <a:ext cx="1676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5FE0A1"/>
                </a:solidFill>
              </a:defRPr>
            </a:pPr>
            <a:r>
              <a:rPr sz="1200" b="1">
                <a:solidFill>
                  <a:srgbClr val="5FE0A1"/>
                </a:solidFill>
              </a:rPr>
              <a:t>平台重构</a:t>
            </a:r>
            <a:endParaRPr sz="1200" b="1">
              <a:solidFill>
                <a:srgbClr val="5FE0A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953250" y="240030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5F9FC"/>
                </a:solidFill>
              </a:defRPr>
            </a:pPr>
            <a:r>
              <a:rPr sz="1875" b="1">
                <a:solidFill>
                  <a:srgbClr val="F5F9FC"/>
                </a:solidFill>
              </a:rPr>
              <a:t>能力复用</a:t>
            </a:r>
            <a:endParaRPr sz="1875" b="1">
              <a:solidFill>
                <a:srgbClr val="F5F9FC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29450" y="3638550"/>
            <a:ext cx="1752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从项目代码变成公共底座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10067925" y="3228975"/>
            <a:ext cx="247650" cy="247650"/>
          </a:xfrm>
          <a:prstGeom prst="ellipse">
            <a:avLst/>
          </a:prstGeom>
          <a:solidFill>
            <a:srgbClr val="FFB45C"/>
          </a:solidFill>
          <a:ln w="38100">
            <a:solidFill>
              <a:srgbClr val="06111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353550" y="2066925"/>
            <a:ext cx="1676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B45C"/>
                </a:solidFill>
              </a:defRPr>
            </a:pPr>
            <a:r>
              <a:rPr sz="1200" b="1">
                <a:solidFill>
                  <a:srgbClr val="FFB45C"/>
                </a:solidFill>
              </a:rPr>
              <a:t>2026</a:t>
            </a:r>
            <a:endParaRPr sz="1200" b="1">
              <a:solidFill>
                <a:srgbClr val="FFB45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239250" y="240030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5F9FC"/>
                </a:solidFill>
              </a:defRPr>
            </a:pPr>
            <a:r>
              <a:rPr sz="1875" b="1">
                <a:solidFill>
                  <a:srgbClr val="F5F9FC"/>
                </a:solidFill>
              </a:rPr>
              <a:t>体系增强</a:t>
            </a:r>
            <a:endParaRPr sz="1875" b="1">
              <a:solidFill>
                <a:srgbClr val="F5F9FC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315450" y="3638550"/>
            <a:ext cx="1752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性能、安全、云原生与 AI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2628900" y="4857750"/>
            <a:ext cx="6934200" cy="781050"/>
          </a:xfrm>
          <a:prstGeom prst="roundRect">
            <a:avLst>
              <a:gd name="adj" fmla="val 21951"/>
            </a:avLst>
          </a:prstGeom>
          <a:solidFill>
            <a:srgbClr val="0D2236"/>
          </a:solidFill>
          <a:ln w="9525">
            <a:solidFill>
              <a:srgbClr val="23445C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009900" y="5067300"/>
            <a:ext cx="617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025" b="1">
                <a:solidFill>
                  <a:srgbClr val="F5F9FC"/>
                </a:solidFill>
              </a:defRPr>
            </a:pPr>
            <a:r>
              <a:rPr sz="2025" b="1">
                <a:solidFill>
                  <a:srgbClr val="F5F9FC"/>
                </a:solidFill>
              </a:rPr>
              <a:t>每一次业务问题，都成为下一次建设可以复用的能力。</a:t>
            </a:r>
            <a:endParaRPr sz="2025" b="1">
              <a:solidFill>
                <a:srgbClr val="F5F9F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企业挑战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4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系统能上线，不等于能够低风险地运行五年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04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000250"/>
            <a:ext cx="342900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5F9FC"/>
                </a:solidFill>
              </a:defRPr>
            </a:pPr>
            <a:r>
              <a:rPr sz="2850" b="1">
                <a:solidFill>
                  <a:srgbClr val="F5F9FC"/>
                </a:solidFill>
              </a:rPr>
              <a:t>真正的成本，</a:t>
            </a:r>
            <a:endParaRPr sz="2850" b="1">
              <a:solidFill>
                <a:srgbClr val="F5F9FC"/>
              </a:solidFill>
            </a:endParaRPr>
          </a:p>
          <a:p>
            <a:pPr algn="l">
              <a:defRPr sz="2850" b="1">
                <a:solidFill>
                  <a:srgbClr val="F5F9FC"/>
                </a:solidFill>
              </a:defRPr>
            </a:pPr>
            <a:r>
              <a:rPr sz="2850" b="1">
                <a:solidFill>
                  <a:srgbClr val="F5F9FC"/>
                </a:solidFill>
              </a:rPr>
              <a:t>通常在系统运行</a:t>
            </a:r>
            <a:endParaRPr sz="2850" b="1">
              <a:solidFill>
                <a:srgbClr val="F5F9FC"/>
              </a:solidFill>
            </a:endParaRPr>
          </a:p>
          <a:p>
            <a:pPr algn="l">
              <a:defRPr sz="2850" b="1">
                <a:solidFill>
                  <a:srgbClr val="F5F9FC"/>
                </a:solidFill>
              </a:defRPr>
            </a:pPr>
            <a:r>
              <a:rPr sz="2850" b="1">
                <a:solidFill>
                  <a:srgbClr val="F5F9FC"/>
                </a:solidFill>
              </a:rPr>
              <a:t>两三年后出现。</a:t>
            </a:r>
            <a:endParaRPr sz="2850" b="1">
              <a:solidFill>
                <a:srgbClr val="F5F9F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00500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8EA8BA"/>
                </a:solidFill>
              </a:defRPr>
            </a:pPr>
            <a:r>
              <a:rPr sz="1500" b="0">
                <a:solidFill>
                  <a:srgbClr val="8EA8BA"/>
                </a:solidFill>
              </a:rPr>
              <a:t>项目越多、客户越多、数据越大，局部有效的做法会开始相互冲突。</a:t>
            </a:r>
            <a:endParaRPr sz="1500" b="0">
              <a:solidFill>
                <a:srgbClr val="8EA8B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533900" y="1809750"/>
            <a:ext cx="19050" cy="3752850"/>
          </a:xfrm>
          <a:prstGeom prst="rect">
            <a:avLst/>
          </a:prstGeom>
          <a:solidFill>
            <a:srgbClr val="23445C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048250" y="17907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01</a:t>
            </a:r>
            <a:endParaRPr sz="1200" b="1">
              <a:solidFill>
                <a:srgbClr val="36D6C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619750" y="175260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D9E6EF"/>
                </a:solidFill>
              </a:defRPr>
            </a:pPr>
            <a:r>
              <a:rPr sz="1725" b="0">
                <a:solidFill>
                  <a:srgbClr val="D9E6EF"/>
                </a:solidFill>
              </a:rPr>
              <a:t>身份、权限、日志和错误规则不统一</a:t>
            </a:r>
            <a:endParaRPr sz="1725" b="0">
              <a:solidFill>
                <a:srgbClr val="D9E6EF"/>
              </a:solidFill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5619750" y="2200275"/>
            <a:ext cx="53340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048250" y="24288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02</a:t>
            </a:r>
            <a:endParaRPr sz="1200" b="1">
              <a:solidFill>
                <a:srgbClr val="36D6C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619750" y="2390775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D9E6EF"/>
                </a:solidFill>
              </a:defRPr>
            </a:pPr>
            <a:r>
              <a:rPr sz="1725" b="0">
                <a:solidFill>
                  <a:srgbClr val="D9E6EF"/>
                </a:solidFill>
              </a:rPr>
              <a:t>客户与门店增长带来隔离和发布风险</a:t>
            </a:r>
            <a:endParaRPr sz="1725" b="0">
              <a:solidFill>
                <a:srgbClr val="D9E6EF"/>
              </a:solidFill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619750" y="2838450"/>
            <a:ext cx="53340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048250" y="30670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03</a:t>
            </a:r>
            <a:endParaRPr sz="1200" b="1">
              <a:solidFill>
                <a:srgbClr val="36D6C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19750" y="302895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D9E6EF"/>
                </a:solidFill>
              </a:defRPr>
            </a:pPr>
            <a:r>
              <a:rPr sz="1725" b="0">
                <a:solidFill>
                  <a:srgbClr val="D9E6EF"/>
                </a:solidFill>
              </a:rPr>
              <a:t>一个慢服务可能逐级放大为全站故障</a:t>
            </a:r>
            <a:endParaRPr sz="1725" b="0">
              <a:solidFill>
                <a:srgbClr val="D9E6EF"/>
              </a:solidFill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5619750" y="3476625"/>
            <a:ext cx="53340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048250" y="37052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8BB3FF"/>
                </a:solidFill>
              </a:defRPr>
            </a:pPr>
            <a:r>
              <a:rPr sz="1200" b="1">
                <a:solidFill>
                  <a:srgbClr val="8BB3FF"/>
                </a:solidFill>
              </a:rPr>
              <a:t>04</a:t>
            </a:r>
            <a:endParaRPr sz="1200" b="1">
              <a:solidFill>
                <a:srgbClr val="8BB3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619750" y="3667125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D9E6EF"/>
                </a:solidFill>
              </a:defRPr>
            </a:pPr>
            <a:r>
              <a:rPr sz="1725" b="0">
                <a:solidFill>
                  <a:srgbClr val="D9E6EF"/>
                </a:solidFill>
              </a:rPr>
              <a:t>文件、接口和第三方调用缺少安全边界</a:t>
            </a:r>
            <a:endParaRPr sz="1725" b="0">
              <a:solidFill>
                <a:srgbClr val="D9E6EF"/>
              </a:solidFill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5619750" y="4114800"/>
            <a:ext cx="53340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048250" y="43434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8BB3FF"/>
                </a:solidFill>
              </a:defRPr>
            </a:pPr>
            <a:r>
              <a:rPr sz="1200" b="1">
                <a:solidFill>
                  <a:srgbClr val="8BB3FF"/>
                </a:solidFill>
              </a:rPr>
              <a:t>05</a:t>
            </a:r>
            <a:endParaRPr sz="1200" b="1">
              <a:solidFill>
                <a:srgbClr val="8BB3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619750" y="430530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D9E6EF"/>
                </a:solidFill>
              </a:defRPr>
            </a:pPr>
            <a:r>
              <a:rPr sz="1725" b="0">
                <a:solidFill>
                  <a:srgbClr val="D9E6EF"/>
                </a:solidFill>
              </a:rPr>
              <a:t>更换云、中间件或模型需要重写业务</a:t>
            </a:r>
            <a:endParaRPr sz="1725" b="0">
              <a:solidFill>
                <a:srgbClr val="D9E6EF"/>
              </a:solidFill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5619750" y="4752975"/>
            <a:ext cx="53340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048250" y="49815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8BB3FF"/>
                </a:solidFill>
              </a:defRPr>
            </a:pPr>
            <a:r>
              <a:rPr sz="1200" b="1">
                <a:solidFill>
                  <a:srgbClr val="8BB3FF"/>
                </a:solidFill>
              </a:rPr>
              <a:t>06</a:t>
            </a:r>
            <a:endParaRPr sz="1200" b="1">
              <a:solidFill>
                <a:srgbClr val="8BB3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619750" y="4943475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D9E6EF"/>
                </a:solidFill>
              </a:defRPr>
            </a:pPr>
            <a:r>
              <a:rPr sz="1725" b="1">
                <a:solidFill>
                  <a:srgbClr val="D9E6EF"/>
                </a:solidFill>
              </a:rPr>
              <a:t>重复建设基础功能，却没有形成企业资产</a:t>
            </a:r>
            <a:endParaRPr sz="1725" b="1">
              <a:solidFill>
                <a:srgbClr val="D9E6E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平台定义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5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企业业务系统下面的一层“公共操作系统”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05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38200" y="1809750"/>
            <a:ext cx="9334500" cy="723900"/>
          </a:xfrm>
          <a:prstGeom prst="roundRect">
            <a:avLst>
              <a:gd name="adj" fmla="val 21053"/>
            </a:avLst>
          </a:prstGeom>
          <a:solidFill>
            <a:srgbClr val="0D2236"/>
          </a:solidFill>
          <a:ln w="19050">
            <a:solidFill>
              <a:srgbClr val="36D6C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04900" y="2009775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36D6C2"/>
                </a:solidFill>
              </a:defRPr>
            </a:pPr>
            <a:r>
              <a:rPr sz="1275" b="1">
                <a:solidFill>
                  <a:srgbClr val="36D6C2"/>
                </a:solidFill>
              </a:rPr>
              <a:t>01</a:t>
            </a:r>
            <a:endParaRPr sz="1275" b="1">
              <a:solidFill>
                <a:srgbClr val="36D6C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714500" y="19621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5F9FC"/>
                </a:solidFill>
              </a:defRPr>
            </a:pPr>
            <a:r>
              <a:rPr sz="1875" b="1">
                <a:solidFill>
                  <a:srgbClr val="F5F9FC"/>
                </a:solidFill>
              </a:rPr>
              <a:t>统一数字入口</a:t>
            </a:r>
            <a:endParaRPr sz="1875" b="1">
              <a:solidFill>
                <a:srgbClr val="F5F9F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286250" y="200025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认证 · 安全 · 流量 · 灰度 · 错误追踪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04900" y="2762250"/>
            <a:ext cx="8801100" cy="723900"/>
          </a:xfrm>
          <a:prstGeom prst="roundRect">
            <a:avLst>
              <a:gd name="adj" fmla="val 21053"/>
            </a:avLst>
          </a:prstGeom>
          <a:solidFill>
            <a:srgbClr val="102A40"/>
          </a:solidFill>
          <a:ln w="19050">
            <a:solidFill>
              <a:srgbClr val="8BB3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71600" y="2962275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8BB3FF"/>
                </a:solidFill>
              </a:defRPr>
            </a:pPr>
            <a:r>
              <a:rPr sz="1275" b="1">
                <a:solidFill>
                  <a:srgbClr val="8BB3FF"/>
                </a:solidFill>
              </a:rPr>
              <a:t>02</a:t>
            </a:r>
            <a:endParaRPr sz="1275" b="1">
              <a:solidFill>
                <a:srgbClr val="8BB3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981200" y="29146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5F9FC"/>
                </a:solidFill>
              </a:defRPr>
            </a:pPr>
            <a:r>
              <a:rPr sz="1875" b="1">
                <a:solidFill>
                  <a:srgbClr val="F5F9FC"/>
                </a:solidFill>
              </a:rPr>
              <a:t>公共业务能力</a:t>
            </a:r>
            <a:endParaRPr sz="1875" b="1">
              <a:solidFill>
                <a:srgbClr val="F5F9F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381500" y="29527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缓存 · 消息 · 流程 · 并发 · 日志治理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371600" y="3714750"/>
            <a:ext cx="8267700" cy="723900"/>
          </a:xfrm>
          <a:prstGeom prst="roundRect">
            <a:avLst>
              <a:gd name="adj" fmla="val 21053"/>
            </a:avLst>
          </a:prstGeom>
          <a:solidFill>
            <a:srgbClr val="0D2236"/>
          </a:solidFill>
          <a:ln w="19050">
            <a:solidFill>
              <a:srgbClr val="5FE0A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638300" y="3914775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5FE0A1"/>
                </a:solidFill>
              </a:defRPr>
            </a:pPr>
            <a:r>
              <a:rPr sz="1275" b="1">
                <a:solidFill>
                  <a:srgbClr val="5FE0A1"/>
                </a:solidFill>
              </a:rPr>
              <a:t>03</a:t>
            </a:r>
            <a:endParaRPr sz="1275" b="1">
              <a:solidFill>
                <a:srgbClr val="5FE0A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247900" y="38671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5F9FC"/>
                </a:solidFill>
              </a:defRPr>
            </a:pPr>
            <a:r>
              <a:rPr sz="1875" b="1">
                <a:solidFill>
                  <a:srgbClr val="F5F9FC"/>
                </a:solidFill>
              </a:rPr>
              <a:t>数据与内容底座</a:t>
            </a:r>
            <a:endParaRPr sz="1875" b="1">
              <a:solidFill>
                <a:srgbClr val="F5F9FC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76750" y="39052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数据库 · 对象存储 · 文档 · OCR · 文件安全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638300" y="4667250"/>
            <a:ext cx="7734300" cy="723900"/>
          </a:xfrm>
          <a:prstGeom prst="roundRect">
            <a:avLst>
              <a:gd name="adj" fmla="val 21053"/>
            </a:avLst>
          </a:prstGeom>
          <a:solidFill>
            <a:srgbClr val="102A40"/>
          </a:solidFill>
          <a:ln w="19050">
            <a:solidFill>
              <a:srgbClr val="FFB45C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905000" y="4867275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FB45C"/>
                </a:solidFill>
              </a:defRPr>
            </a:pPr>
            <a:r>
              <a:rPr sz="1275" b="1">
                <a:solidFill>
                  <a:srgbClr val="FFB45C"/>
                </a:solidFill>
              </a:rPr>
              <a:t>04</a:t>
            </a:r>
            <a:endParaRPr sz="1275" b="1">
              <a:solidFill>
                <a:srgbClr val="FFB45C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514600" y="48196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5F9FC"/>
                </a:solidFill>
              </a:defRPr>
            </a:pPr>
            <a:r>
              <a:rPr sz="1875" b="1">
                <a:solidFill>
                  <a:srgbClr val="F5F9FC"/>
                </a:solidFill>
              </a:rPr>
              <a:t>智能化扩展</a:t>
            </a:r>
            <a:endParaRPr sz="1875" b="1">
              <a:solidFill>
                <a:srgbClr val="F5F9FC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572000" y="48577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模型 · 知识检索 · RAG · AI 工具协议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953625" y="2028825"/>
            <a:ext cx="1257300" cy="3200400"/>
          </a:xfrm>
          <a:prstGeom prst="roundRect">
            <a:avLst>
              <a:gd name="adj" fmla="val 13636"/>
            </a:avLst>
          </a:prstGeom>
          <a:solidFill>
            <a:srgbClr val="091A2B"/>
          </a:solidFill>
          <a:ln w="9525">
            <a:solidFill>
              <a:srgbClr val="23445C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0115550" y="2381250"/>
            <a:ext cx="933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750" b="1">
                <a:solidFill>
                  <a:srgbClr val="36D6C2"/>
                </a:solidFill>
              </a:defRPr>
            </a:pPr>
            <a:r>
              <a:rPr sz="3750" b="1">
                <a:solidFill>
                  <a:srgbClr val="36D6C2"/>
                </a:solidFill>
              </a:rPr>
              <a:t>29</a:t>
            </a:r>
            <a:endParaRPr sz="3750" b="1">
              <a:solidFill>
                <a:srgbClr val="36D6C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048875" y="29908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D9E6EF"/>
                </a:solidFill>
              </a:defRPr>
            </a:pPr>
            <a:r>
              <a:rPr sz="1350" b="1">
                <a:solidFill>
                  <a:srgbClr val="D9E6EF"/>
                </a:solidFill>
              </a:rPr>
              <a:t>组件家族</a:t>
            </a:r>
            <a:endParaRPr sz="1350" b="1">
              <a:solidFill>
                <a:srgbClr val="D9E6EF"/>
              </a:solidFill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0191750" y="3562350"/>
            <a:ext cx="8001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020300" y="3848100"/>
            <a:ext cx="1104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375" b="1">
                <a:solidFill>
                  <a:srgbClr val="8BB3FF"/>
                </a:solidFill>
              </a:defRPr>
            </a:pPr>
            <a:r>
              <a:rPr sz="3375" b="1">
                <a:solidFill>
                  <a:srgbClr val="8BB3FF"/>
                </a:solidFill>
              </a:rPr>
              <a:t>124</a:t>
            </a:r>
            <a:endParaRPr sz="3375" b="1">
              <a:solidFill>
                <a:srgbClr val="8BB3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001250" y="44386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D9E6EF"/>
                </a:solidFill>
              </a:defRPr>
            </a:pPr>
            <a:r>
              <a:rPr sz="1350" b="1">
                <a:solidFill>
                  <a:srgbClr val="D9E6EF"/>
                </a:solidFill>
              </a:rPr>
              <a:t>模块化单元</a:t>
            </a:r>
            <a:endParaRPr sz="1350" b="1">
              <a:solidFill>
                <a:srgbClr val="D9E6E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经验护城河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6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难复制的是五年业务沉淀的判断标准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06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210050" y="2362200"/>
            <a:ext cx="3771900" cy="1428750"/>
          </a:xfrm>
          <a:prstGeom prst="roundRect">
            <a:avLst>
              <a:gd name="adj" fmla="val 14667"/>
            </a:avLst>
          </a:prstGeom>
          <a:solidFill>
            <a:srgbClr val="102A40"/>
          </a:solidFill>
          <a:ln w="28575">
            <a:solidFill>
              <a:srgbClr val="36D6C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33900" y="2657475"/>
            <a:ext cx="3124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F5F9FC"/>
                </a:solidFill>
              </a:defRPr>
            </a:pPr>
            <a:r>
              <a:rPr sz="2250" b="1">
                <a:solidFill>
                  <a:srgbClr val="F5F9FC"/>
                </a:solidFill>
              </a:rPr>
              <a:t>代码可以买</a:t>
            </a:r>
            <a:endParaRPr sz="2250" b="1">
              <a:solidFill>
                <a:srgbClr val="F5F9FC"/>
              </a:solidFill>
            </a:endParaRPr>
          </a:p>
          <a:p>
            <a:pPr algn="ctr">
              <a:defRPr sz="2250" b="1">
                <a:solidFill>
                  <a:srgbClr val="F5F9FC"/>
                </a:solidFill>
              </a:defRPr>
            </a:pPr>
            <a:r>
              <a:rPr sz="2250" b="1">
                <a:solidFill>
                  <a:srgbClr val="F5F9FC"/>
                </a:solidFill>
              </a:rPr>
              <a:t>判断标准要靠业务沉淀</a:t>
            </a:r>
            <a:endParaRPr sz="2250" b="1">
              <a:solidFill>
                <a:srgbClr val="F5F9FC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952500" y="1971675"/>
            <a:ext cx="2552700" cy="838200"/>
          </a:xfrm>
          <a:prstGeom prst="roundRect">
            <a:avLst>
              <a:gd name="adj" fmla="val 18182"/>
            </a:avLst>
          </a:prstGeom>
          <a:solidFill>
            <a:srgbClr val="0D2236"/>
          </a:solidFill>
          <a:ln w="9525">
            <a:solidFill>
              <a:srgbClr val="36D6C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23950" y="212407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36D6C2"/>
                </a:solidFill>
              </a:defRPr>
            </a:pPr>
            <a:r>
              <a:rPr sz="1500" b="1">
                <a:solidFill>
                  <a:srgbClr val="36D6C2"/>
                </a:solidFill>
              </a:rPr>
              <a:t>流量</a:t>
            </a:r>
            <a:endParaRPr sz="1500" b="1">
              <a:solidFill>
                <a:srgbClr val="36D6C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771650" y="2124075"/>
            <a:ext cx="1562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D9E6EF"/>
                </a:solidFill>
              </a:defRPr>
            </a:pPr>
            <a:r>
              <a:rPr sz="1425" b="1">
                <a:solidFill>
                  <a:srgbClr val="D9E6EF"/>
                </a:solidFill>
              </a:rPr>
              <a:t>什么必须隔离</a:t>
            </a:r>
            <a:endParaRPr sz="1425" b="1">
              <a:solidFill>
                <a:srgbClr val="D9E6E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952500" y="3962400"/>
            <a:ext cx="2552700" cy="838200"/>
          </a:xfrm>
          <a:prstGeom prst="roundRect">
            <a:avLst>
              <a:gd name="adj" fmla="val 18182"/>
            </a:avLst>
          </a:prstGeom>
          <a:solidFill>
            <a:srgbClr val="0D2236"/>
          </a:solidFill>
          <a:ln w="9525">
            <a:solidFill>
              <a:srgbClr val="8BB3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411480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8BB3FF"/>
                </a:solidFill>
              </a:defRPr>
            </a:pPr>
            <a:r>
              <a:rPr sz="1500" b="1">
                <a:solidFill>
                  <a:srgbClr val="8BB3FF"/>
                </a:solidFill>
              </a:rPr>
              <a:t>客户</a:t>
            </a:r>
            <a:endParaRPr sz="1500" b="1">
              <a:solidFill>
                <a:srgbClr val="8BB3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771650" y="4114800"/>
            <a:ext cx="1562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D9E6EF"/>
                </a:solidFill>
              </a:defRPr>
            </a:pPr>
            <a:r>
              <a:rPr sz="1425" b="1">
                <a:solidFill>
                  <a:srgbClr val="D9E6EF"/>
                </a:solidFill>
              </a:rPr>
              <a:t>什么需要独立部署</a:t>
            </a:r>
            <a:endParaRPr sz="1425" b="1">
              <a:solidFill>
                <a:srgbClr val="D9E6E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667750" y="1971675"/>
            <a:ext cx="2552700" cy="838200"/>
          </a:xfrm>
          <a:prstGeom prst="roundRect">
            <a:avLst>
              <a:gd name="adj" fmla="val 18182"/>
            </a:avLst>
          </a:prstGeom>
          <a:solidFill>
            <a:srgbClr val="0D2236"/>
          </a:solidFill>
          <a:ln w="9525">
            <a:solidFill>
              <a:srgbClr val="5FE0A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839200" y="212407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5FE0A1"/>
                </a:solidFill>
              </a:defRPr>
            </a:pPr>
            <a:r>
              <a:rPr sz="1500" b="1">
                <a:solidFill>
                  <a:srgbClr val="5FE0A1"/>
                </a:solidFill>
              </a:rPr>
              <a:t>消息</a:t>
            </a:r>
            <a:endParaRPr sz="1500" b="1">
              <a:solidFill>
                <a:srgbClr val="5FE0A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486900" y="2124075"/>
            <a:ext cx="1562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D9E6EF"/>
                </a:solidFill>
              </a:defRPr>
            </a:pPr>
            <a:r>
              <a:rPr sz="1425" b="1">
                <a:solidFill>
                  <a:srgbClr val="D9E6EF"/>
                </a:solidFill>
              </a:rPr>
              <a:t>什么可以安全重试</a:t>
            </a:r>
            <a:endParaRPr sz="1425" b="1">
              <a:solidFill>
                <a:srgbClr val="D9E6EF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667750" y="3962400"/>
            <a:ext cx="2552700" cy="838200"/>
          </a:xfrm>
          <a:prstGeom prst="roundRect">
            <a:avLst>
              <a:gd name="adj" fmla="val 18182"/>
            </a:avLst>
          </a:prstGeom>
          <a:solidFill>
            <a:srgbClr val="0D2236"/>
          </a:solidFill>
          <a:ln w="9525">
            <a:solidFill>
              <a:srgbClr val="FFB45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839200" y="411480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FB45C"/>
                </a:solidFill>
              </a:defRPr>
            </a:pPr>
            <a:r>
              <a:rPr sz="1500" b="1">
                <a:solidFill>
                  <a:srgbClr val="FFB45C"/>
                </a:solidFill>
              </a:rPr>
              <a:t>流程</a:t>
            </a:r>
            <a:endParaRPr sz="1500" b="1">
              <a:solidFill>
                <a:srgbClr val="FFB45C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486900" y="4114800"/>
            <a:ext cx="1562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D9E6EF"/>
                </a:solidFill>
              </a:defRPr>
            </a:pPr>
            <a:r>
              <a:rPr sz="1425" b="1">
                <a:solidFill>
                  <a:srgbClr val="D9E6EF"/>
                </a:solidFill>
              </a:rPr>
              <a:t>什么必须强一致</a:t>
            </a:r>
            <a:endParaRPr sz="1425" b="1">
              <a:solidFill>
                <a:srgbClr val="D9E6EF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3276600" y="4552950"/>
            <a:ext cx="2552700" cy="838200"/>
          </a:xfrm>
          <a:prstGeom prst="roundRect">
            <a:avLst>
              <a:gd name="adj" fmla="val 18182"/>
            </a:avLst>
          </a:prstGeom>
          <a:solidFill>
            <a:srgbClr val="0D2236"/>
          </a:solidFill>
          <a:ln w="9525">
            <a:solidFill>
              <a:srgbClr val="74E8D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448050" y="47053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74E8D9"/>
                </a:solidFill>
              </a:defRPr>
            </a:pPr>
            <a:r>
              <a:rPr sz="1500" b="1">
                <a:solidFill>
                  <a:srgbClr val="74E8D9"/>
                </a:solidFill>
              </a:rPr>
              <a:t>发布</a:t>
            </a:r>
            <a:endParaRPr sz="1500" b="1">
              <a:solidFill>
                <a:srgbClr val="74E8D9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095750" y="4705350"/>
            <a:ext cx="1562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D9E6EF"/>
                </a:solidFill>
              </a:defRPr>
            </a:pPr>
            <a:r>
              <a:rPr sz="1425" b="1">
                <a:solidFill>
                  <a:srgbClr val="D9E6EF"/>
                </a:solidFill>
              </a:rPr>
              <a:t>如何按门店逐步放量</a:t>
            </a:r>
            <a:endParaRPr sz="1425" b="1">
              <a:solidFill>
                <a:srgbClr val="D9E6EF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543675" y="4552950"/>
            <a:ext cx="2552700" cy="838200"/>
          </a:xfrm>
          <a:prstGeom prst="roundRect">
            <a:avLst>
              <a:gd name="adj" fmla="val 18182"/>
            </a:avLst>
          </a:prstGeom>
          <a:solidFill>
            <a:srgbClr val="0D2236"/>
          </a:solidFill>
          <a:ln w="9525">
            <a:solidFill>
              <a:srgbClr val="8BB3F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715125" y="4705350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8BB3FF"/>
                </a:solidFill>
              </a:defRPr>
            </a:pPr>
            <a:r>
              <a:rPr sz="1500" b="1">
                <a:solidFill>
                  <a:srgbClr val="8BB3FF"/>
                </a:solidFill>
              </a:rPr>
              <a:t>数据</a:t>
            </a:r>
            <a:endParaRPr sz="1500" b="1">
              <a:solidFill>
                <a:srgbClr val="8BB3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362825" y="4705350"/>
            <a:ext cx="1562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D9E6EF"/>
                </a:solidFill>
              </a:defRPr>
            </a:pPr>
            <a:r>
              <a:rPr sz="1425" b="1">
                <a:solidFill>
                  <a:srgbClr val="D9E6EF"/>
                </a:solidFill>
              </a:rPr>
              <a:t>权限在哪一步生效</a:t>
            </a:r>
            <a:endParaRPr sz="1425" b="1">
              <a:solidFill>
                <a:srgbClr val="D9E6E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统一入口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7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复杂流量先被治理，再进入业务系统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07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390775" y="3219450"/>
            <a:ext cx="552450" cy="0"/>
          </a:xfrm>
          <a:prstGeom prst="line">
            <a:avLst/>
          </a:prstGeom>
          <a:noFill/>
          <a:ln w="38100">
            <a:solidFill>
              <a:srgbClr val="23445C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714375" y="2400300"/>
            <a:ext cx="1752600" cy="1619250"/>
          </a:xfrm>
          <a:prstGeom prst="roundRect">
            <a:avLst>
              <a:gd name="adj" fmla="val 11765"/>
            </a:avLst>
          </a:prstGeom>
          <a:solidFill>
            <a:srgbClr val="0D2236"/>
          </a:solidFill>
          <a:ln w="19050">
            <a:solidFill>
              <a:srgbClr val="8EA8B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85825" y="2609850"/>
            <a:ext cx="42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8EA8BA"/>
                </a:solidFill>
              </a:defRPr>
            </a:pPr>
            <a:r>
              <a:rPr sz="1200" b="1">
                <a:solidFill>
                  <a:srgbClr val="8EA8BA"/>
                </a:solidFill>
              </a:rPr>
              <a:t>01</a:t>
            </a:r>
            <a:endParaRPr sz="1200" b="1">
              <a:solidFill>
                <a:srgbClr val="8EA8B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85825" y="29622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访问方</a:t>
            </a:r>
            <a:endParaRPr sz="1800" b="1">
              <a:solidFill>
                <a:srgbClr val="F5F9FC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5825" y="3448050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用户 / 门店 / 合作伙伴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4657725" y="3219450"/>
            <a:ext cx="552450" cy="0"/>
          </a:xfrm>
          <a:prstGeom prst="line">
            <a:avLst/>
          </a:prstGeom>
          <a:noFill/>
          <a:ln w="38100">
            <a:solidFill>
              <a:srgbClr val="23445C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2981325" y="2400300"/>
            <a:ext cx="1752600" cy="1619250"/>
          </a:xfrm>
          <a:prstGeom prst="roundRect">
            <a:avLst>
              <a:gd name="adj" fmla="val 11765"/>
            </a:avLst>
          </a:prstGeom>
          <a:solidFill>
            <a:srgbClr val="0D2236"/>
          </a:solidFill>
          <a:ln w="19050">
            <a:solidFill>
              <a:srgbClr val="36D6C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152775" y="2609850"/>
            <a:ext cx="42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02</a:t>
            </a:r>
            <a:endParaRPr sz="1200" b="1">
              <a:solidFill>
                <a:srgbClr val="36D6C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152775" y="29622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身份与租户</a:t>
            </a:r>
            <a:endParaRPr sz="1800" b="1">
              <a:solidFill>
                <a:srgbClr val="F5F9F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152775" y="3448050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JWT · OAuth · MFA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924675" y="3219450"/>
            <a:ext cx="552450" cy="0"/>
          </a:xfrm>
          <a:prstGeom prst="line">
            <a:avLst/>
          </a:prstGeom>
          <a:noFill/>
          <a:ln w="38100">
            <a:solidFill>
              <a:srgbClr val="23445C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5248275" y="2400300"/>
            <a:ext cx="1752600" cy="1619250"/>
          </a:xfrm>
          <a:prstGeom prst="roundRect">
            <a:avLst>
              <a:gd name="adj" fmla="val 11765"/>
            </a:avLst>
          </a:prstGeom>
          <a:solidFill>
            <a:srgbClr val="0D2236"/>
          </a:solidFill>
          <a:ln w="19050">
            <a:solidFill>
              <a:srgbClr val="8BB3F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419725" y="2609850"/>
            <a:ext cx="42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8BB3FF"/>
                </a:solidFill>
              </a:defRPr>
            </a:pPr>
            <a:r>
              <a:rPr sz="1200" b="1">
                <a:solidFill>
                  <a:srgbClr val="8BB3FF"/>
                </a:solidFill>
              </a:rPr>
              <a:t>03</a:t>
            </a:r>
            <a:endParaRPr sz="1200" b="1">
              <a:solidFill>
                <a:srgbClr val="8BB3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419725" y="29622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安全与流量</a:t>
            </a:r>
            <a:endParaRPr sz="1800" b="1">
              <a:solidFill>
                <a:srgbClr val="F5F9FC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419725" y="3448050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防重 · 异常 · 限流熔断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91625" y="3219450"/>
            <a:ext cx="552450" cy="0"/>
          </a:xfrm>
          <a:prstGeom prst="line">
            <a:avLst/>
          </a:prstGeom>
          <a:noFill/>
          <a:ln w="38100">
            <a:solidFill>
              <a:srgbClr val="23445C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7515225" y="2400300"/>
            <a:ext cx="1752600" cy="1619250"/>
          </a:xfrm>
          <a:prstGeom prst="roundRect">
            <a:avLst>
              <a:gd name="adj" fmla="val 11765"/>
            </a:avLst>
          </a:prstGeom>
          <a:solidFill>
            <a:srgbClr val="0D2236"/>
          </a:solidFill>
          <a:ln w="19050">
            <a:solidFill>
              <a:srgbClr val="5FE0A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686675" y="2609850"/>
            <a:ext cx="42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5FE0A1"/>
                </a:solidFill>
              </a:defRPr>
            </a:pPr>
            <a:r>
              <a:rPr sz="1200" b="1">
                <a:solidFill>
                  <a:srgbClr val="5FE0A1"/>
                </a:solidFill>
              </a:rPr>
              <a:t>04</a:t>
            </a:r>
            <a:endParaRPr sz="1200" b="1">
              <a:solidFill>
                <a:srgbClr val="5FE0A1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86675" y="29622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发布与路由</a:t>
            </a:r>
            <a:endParaRPr sz="1800" b="1">
              <a:solidFill>
                <a:srgbClr val="F5F9F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86675" y="3448050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门店灰度 · 服务发现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782175" y="2400300"/>
            <a:ext cx="1752600" cy="1619250"/>
          </a:xfrm>
          <a:prstGeom prst="roundRect">
            <a:avLst>
              <a:gd name="adj" fmla="val 11765"/>
            </a:avLst>
          </a:prstGeom>
          <a:solidFill>
            <a:srgbClr val="0D2236"/>
          </a:solidFill>
          <a:ln w="19050">
            <a:solidFill>
              <a:srgbClr val="FFB45C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953625" y="2609850"/>
            <a:ext cx="42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FB45C"/>
                </a:solidFill>
              </a:defRPr>
            </a:pPr>
            <a:r>
              <a:rPr sz="1200" b="1">
                <a:solidFill>
                  <a:srgbClr val="FFB45C"/>
                </a:solidFill>
              </a:rPr>
              <a:t>05</a:t>
            </a:r>
            <a:endParaRPr sz="1200" b="1">
              <a:solidFill>
                <a:srgbClr val="FFB45C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953625" y="29622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业务服务</a:t>
            </a:r>
            <a:endParaRPr sz="1800" b="1">
              <a:solidFill>
                <a:srgbClr val="F5F9FC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953625" y="3448050"/>
            <a:ext cx="1409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ToB / ToC / 内网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5350" y="4629150"/>
            <a:ext cx="628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5F9FC"/>
                </a:solidFill>
              </a:defRPr>
            </a:pPr>
            <a:r>
              <a:rPr sz="1725" b="1">
                <a:solidFill>
                  <a:srgbClr val="F5F9FC"/>
                </a:solidFill>
              </a:rPr>
              <a:t>同一请求编号贯穿客户端、网关、下游服务与日志</a:t>
            </a:r>
            <a:endParaRPr sz="1725" b="1">
              <a:solidFill>
                <a:srgbClr val="F5F9FC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95350" y="50482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36D6C2"/>
                </a:solidFill>
              </a:defRPr>
            </a:pPr>
            <a:r>
              <a:rPr sz="1425" b="1">
                <a:solidFill>
                  <a:srgbClr val="36D6C2"/>
                </a:solidFill>
              </a:rPr>
              <a:t>成功 · 失败 · 404 都可追踪</a:t>
            </a:r>
            <a:endParaRPr sz="1425" b="1">
              <a:solidFill>
                <a:srgbClr val="36D6C2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86550" y="4867275"/>
            <a:ext cx="466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0">
                <a:solidFill>
                  <a:srgbClr val="8EA8BA"/>
                </a:solidFill>
              </a:defRPr>
            </a:pPr>
            <a:r>
              <a:rPr sz="1350" b="0">
                <a:solidFill>
                  <a:srgbClr val="8EA8BA"/>
                </a:solidFill>
              </a:rPr>
              <a:t>Web · Node.js · 小程序 · Go · Rust · C++ · Kotlin · Swift</a:t>
            </a:r>
            <a:endParaRPr sz="1350" b="0">
              <a:solidFill>
                <a:srgbClr val="8EA8B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6" name="矩形 205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门店灰度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8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新功能先进入少量门店，再逐步扩大范围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08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876425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5F9FC"/>
                </a:solidFill>
              </a:defRPr>
            </a:pPr>
            <a:r>
              <a:rPr sz="2700" b="1">
                <a:solidFill>
                  <a:srgbClr val="F5F9FC"/>
                </a:solidFill>
              </a:rPr>
              <a:t>10,000 家门店</a:t>
            </a:r>
            <a:endParaRPr sz="2700" b="1">
              <a:solidFill>
                <a:srgbClr val="F5F9F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447925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D9E6EF"/>
                </a:solidFill>
              </a:defRPr>
            </a:pPr>
            <a:r>
              <a:rPr sz="1575" b="0">
                <a:solidFill>
                  <a:srgbClr val="D9E6EF"/>
                </a:solidFill>
              </a:rPr>
              <a:t>按门店 ID、用户、版本或业务标识逐步放量</a:t>
            </a:r>
            <a:endParaRPr sz="1575" b="0">
              <a:solidFill>
                <a:srgbClr val="D9E6EF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5867400" y="1809750"/>
            <a:ext cx="114300" cy="114300"/>
          </a:xfrm>
          <a:prstGeom prst="ellipse">
            <a:avLst/>
          </a:prstGeom>
          <a:solidFill>
            <a:srgbClr val="FFB45C"/>
          </a:solidFill>
          <a:ln w="0">
            <a:noFill/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6153150" y="1809750"/>
            <a:ext cx="114300" cy="114300"/>
          </a:xfrm>
          <a:prstGeom prst="ellipse">
            <a:avLst/>
          </a:prstGeom>
          <a:solidFill>
            <a:srgbClr val="FFB45C"/>
          </a:solidFill>
          <a:ln w="0">
            <a:noFill/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6438900" y="1809750"/>
            <a:ext cx="114300" cy="114300"/>
          </a:xfrm>
          <a:prstGeom prst="ellipse">
            <a:avLst/>
          </a:prstGeom>
          <a:solidFill>
            <a:srgbClr val="FFB45C"/>
          </a:solidFill>
          <a:ln w="0">
            <a:noFill/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6724650" y="1809750"/>
            <a:ext cx="114300" cy="114300"/>
          </a:xfrm>
          <a:prstGeom prst="ellipse">
            <a:avLst/>
          </a:prstGeom>
          <a:solidFill>
            <a:srgbClr val="FFB45C"/>
          </a:solidFill>
          <a:ln w="0">
            <a:noFill/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7010400" y="1809750"/>
            <a:ext cx="114300" cy="114300"/>
          </a:xfrm>
          <a:prstGeom prst="ellipse">
            <a:avLst/>
          </a:prstGeom>
          <a:solidFill>
            <a:srgbClr val="FFB45C"/>
          </a:solidFill>
          <a:ln w="0">
            <a:noFill/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7296150" y="1809750"/>
            <a:ext cx="114300" cy="114300"/>
          </a:xfrm>
          <a:prstGeom prst="ellipse">
            <a:avLst/>
          </a:prstGeom>
          <a:solidFill>
            <a:srgbClr val="FFB45C"/>
          </a:solidFill>
          <a:ln w="0">
            <a:noFill/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7581900" y="1809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7867650" y="1809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8153400" y="1809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8439150" y="1809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8724900" y="1809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9010650" y="1809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9296400" y="1809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9582150" y="1809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9867900" y="1809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10153650" y="1809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10439400" y="1809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10725150" y="1809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586740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615315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643890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672465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31" name="椭圆 30"/>
          <p:cNvSpPr>
            <a:spLocks noGrp="1"/>
          </p:cNvSpPr>
          <p:nvPr/>
        </p:nvSpPr>
        <p:spPr>
          <a:xfrm>
            <a:off x="701040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32" name="椭圆 31"/>
          <p:cNvSpPr>
            <a:spLocks noGrp="1"/>
          </p:cNvSpPr>
          <p:nvPr/>
        </p:nvSpPr>
        <p:spPr>
          <a:xfrm>
            <a:off x="729615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33" name="椭圆 32"/>
          <p:cNvSpPr>
            <a:spLocks noGrp="1"/>
          </p:cNvSpPr>
          <p:nvPr/>
        </p:nvSpPr>
        <p:spPr>
          <a:xfrm>
            <a:off x="758190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786765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815340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36" name="椭圆 35"/>
          <p:cNvSpPr>
            <a:spLocks noGrp="1"/>
          </p:cNvSpPr>
          <p:nvPr/>
        </p:nvSpPr>
        <p:spPr>
          <a:xfrm>
            <a:off x="843915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37" name="椭圆 36"/>
          <p:cNvSpPr>
            <a:spLocks noGrp="1"/>
          </p:cNvSpPr>
          <p:nvPr/>
        </p:nvSpPr>
        <p:spPr>
          <a:xfrm>
            <a:off x="872490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901065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39" name="椭圆 38"/>
          <p:cNvSpPr>
            <a:spLocks noGrp="1"/>
          </p:cNvSpPr>
          <p:nvPr/>
        </p:nvSpPr>
        <p:spPr>
          <a:xfrm>
            <a:off x="929640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40" name="椭圆 39"/>
          <p:cNvSpPr>
            <a:spLocks noGrp="1"/>
          </p:cNvSpPr>
          <p:nvPr/>
        </p:nvSpPr>
        <p:spPr>
          <a:xfrm>
            <a:off x="958215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41" name="椭圆 40"/>
          <p:cNvSpPr>
            <a:spLocks noGrp="1"/>
          </p:cNvSpPr>
          <p:nvPr/>
        </p:nvSpPr>
        <p:spPr>
          <a:xfrm>
            <a:off x="986790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42" name="椭圆 41"/>
          <p:cNvSpPr>
            <a:spLocks noGrp="1"/>
          </p:cNvSpPr>
          <p:nvPr/>
        </p:nvSpPr>
        <p:spPr>
          <a:xfrm>
            <a:off x="1015365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43" name="椭圆 42"/>
          <p:cNvSpPr>
            <a:spLocks noGrp="1"/>
          </p:cNvSpPr>
          <p:nvPr/>
        </p:nvSpPr>
        <p:spPr>
          <a:xfrm>
            <a:off x="1043940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44" name="椭圆 43"/>
          <p:cNvSpPr>
            <a:spLocks noGrp="1"/>
          </p:cNvSpPr>
          <p:nvPr/>
        </p:nvSpPr>
        <p:spPr>
          <a:xfrm>
            <a:off x="10725150" y="2095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45" name="椭圆 44"/>
          <p:cNvSpPr>
            <a:spLocks noGrp="1"/>
          </p:cNvSpPr>
          <p:nvPr/>
        </p:nvSpPr>
        <p:spPr>
          <a:xfrm>
            <a:off x="5867400" y="2381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46" name="椭圆 45"/>
          <p:cNvSpPr>
            <a:spLocks noGrp="1"/>
          </p:cNvSpPr>
          <p:nvPr/>
        </p:nvSpPr>
        <p:spPr>
          <a:xfrm>
            <a:off x="6153150" y="2381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6438900" y="2381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48" name="椭圆 47"/>
          <p:cNvSpPr>
            <a:spLocks noGrp="1"/>
          </p:cNvSpPr>
          <p:nvPr/>
        </p:nvSpPr>
        <p:spPr>
          <a:xfrm>
            <a:off x="6724650" y="2381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49" name="椭圆 48"/>
          <p:cNvSpPr>
            <a:spLocks noGrp="1"/>
          </p:cNvSpPr>
          <p:nvPr/>
        </p:nvSpPr>
        <p:spPr>
          <a:xfrm>
            <a:off x="7010400" y="2381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50" name="椭圆 49"/>
          <p:cNvSpPr>
            <a:spLocks noGrp="1"/>
          </p:cNvSpPr>
          <p:nvPr/>
        </p:nvSpPr>
        <p:spPr>
          <a:xfrm>
            <a:off x="7296150" y="2381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51" name="椭圆 50"/>
          <p:cNvSpPr>
            <a:spLocks noGrp="1"/>
          </p:cNvSpPr>
          <p:nvPr/>
        </p:nvSpPr>
        <p:spPr>
          <a:xfrm>
            <a:off x="7581900" y="2381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52" name="椭圆 51"/>
          <p:cNvSpPr>
            <a:spLocks noGrp="1"/>
          </p:cNvSpPr>
          <p:nvPr/>
        </p:nvSpPr>
        <p:spPr>
          <a:xfrm>
            <a:off x="7867650" y="2381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53" name="椭圆 52"/>
          <p:cNvSpPr>
            <a:spLocks noGrp="1"/>
          </p:cNvSpPr>
          <p:nvPr/>
        </p:nvSpPr>
        <p:spPr>
          <a:xfrm>
            <a:off x="8153400" y="2381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54" name="椭圆 53"/>
          <p:cNvSpPr>
            <a:spLocks noGrp="1"/>
          </p:cNvSpPr>
          <p:nvPr/>
        </p:nvSpPr>
        <p:spPr>
          <a:xfrm>
            <a:off x="8439150" y="2381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8724900" y="2381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56" name="椭圆 55"/>
          <p:cNvSpPr>
            <a:spLocks noGrp="1"/>
          </p:cNvSpPr>
          <p:nvPr/>
        </p:nvSpPr>
        <p:spPr>
          <a:xfrm>
            <a:off x="9010650" y="2381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57" name="椭圆 56"/>
          <p:cNvSpPr>
            <a:spLocks noGrp="1"/>
          </p:cNvSpPr>
          <p:nvPr/>
        </p:nvSpPr>
        <p:spPr>
          <a:xfrm>
            <a:off x="9296400" y="23812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58" name="椭圆 57"/>
          <p:cNvSpPr>
            <a:spLocks noGrp="1"/>
          </p:cNvSpPr>
          <p:nvPr/>
        </p:nvSpPr>
        <p:spPr>
          <a:xfrm>
            <a:off x="9582150" y="23812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59" name="椭圆 58"/>
          <p:cNvSpPr>
            <a:spLocks noGrp="1"/>
          </p:cNvSpPr>
          <p:nvPr/>
        </p:nvSpPr>
        <p:spPr>
          <a:xfrm>
            <a:off x="9867900" y="23812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60" name="椭圆 59"/>
          <p:cNvSpPr>
            <a:spLocks noGrp="1"/>
          </p:cNvSpPr>
          <p:nvPr/>
        </p:nvSpPr>
        <p:spPr>
          <a:xfrm>
            <a:off x="10153650" y="23812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61" name="椭圆 60"/>
          <p:cNvSpPr>
            <a:spLocks noGrp="1"/>
          </p:cNvSpPr>
          <p:nvPr/>
        </p:nvSpPr>
        <p:spPr>
          <a:xfrm>
            <a:off x="10439400" y="23812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62" name="椭圆 61"/>
          <p:cNvSpPr>
            <a:spLocks noGrp="1"/>
          </p:cNvSpPr>
          <p:nvPr/>
        </p:nvSpPr>
        <p:spPr>
          <a:xfrm>
            <a:off x="10725150" y="23812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63" name="椭圆 62"/>
          <p:cNvSpPr>
            <a:spLocks noGrp="1"/>
          </p:cNvSpPr>
          <p:nvPr/>
        </p:nvSpPr>
        <p:spPr>
          <a:xfrm>
            <a:off x="586740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64" name="椭圆 63"/>
          <p:cNvSpPr>
            <a:spLocks noGrp="1"/>
          </p:cNvSpPr>
          <p:nvPr/>
        </p:nvSpPr>
        <p:spPr>
          <a:xfrm>
            <a:off x="615315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65" name="椭圆 64"/>
          <p:cNvSpPr>
            <a:spLocks noGrp="1"/>
          </p:cNvSpPr>
          <p:nvPr/>
        </p:nvSpPr>
        <p:spPr>
          <a:xfrm>
            <a:off x="643890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66" name="椭圆 65"/>
          <p:cNvSpPr>
            <a:spLocks noGrp="1"/>
          </p:cNvSpPr>
          <p:nvPr/>
        </p:nvSpPr>
        <p:spPr>
          <a:xfrm>
            <a:off x="672465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67" name="椭圆 66"/>
          <p:cNvSpPr>
            <a:spLocks noGrp="1"/>
          </p:cNvSpPr>
          <p:nvPr/>
        </p:nvSpPr>
        <p:spPr>
          <a:xfrm>
            <a:off x="701040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68" name="椭圆 67"/>
          <p:cNvSpPr>
            <a:spLocks noGrp="1"/>
          </p:cNvSpPr>
          <p:nvPr/>
        </p:nvSpPr>
        <p:spPr>
          <a:xfrm>
            <a:off x="729615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69" name="椭圆 68"/>
          <p:cNvSpPr>
            <a:spLocks noGrp="1"/>
          </p:cNvSpPr>
          <p:nvPr/>
        </p:nvSpPr>
        <p:spPr>
          <a:xfrm>
            <a:off x="758190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70" name="椭圆 69"/>
          <p:cNvSpPr>
            <a:spLocks noGrp="1"/>
          </p:cNvSpPr>
          <p:nvPr/>
        </p:nvSpPr>
        <p:spPr>
          <a:xfrm>
            <a:off x="786765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71" name="椭圆 70"/>
          <p:cNvSpPr>
            <a:spLocks noGrp="1"/>
          </p:cNvSpPr>
          <p:nvPr/>
        </p:nvSpPr>
        <p:spPr>
          <a:xfrm>
            <a:off x="815340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72" name="椭圆 71"/>
          <p:cNvSpPr>
            <a:spLocks noGrp="1"/>
          </p:cNvSpPr>
          <p:nvPr/>
        </p:nvSpPr>
        <p:spPr>
          <a:xfrm>
            <a:off x="843915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73" name="椭圆 72"/>
          <p:cNvSpPr>
            <a:spLocks noGrp="1"/>
          </p:cNvSpPr>
          <p:nvPr/>
        </p:nvSpPr>
        <p:spPr>
          <a:xfrm>
            <a:off x="872490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74" name="椭圆 73"/>
          <p:cNvSpPr>
            <a:spLocks noGrp="1"/>
          </p:cNvSpPr>
          <p:nvPr/>
        </p:nvSpPr>
        <p:spPr>
          <a:xfrm>
            <a:off x="901065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75" name="椭圆 74"/>
          <p:cNvSpPr>
            <a:spLocks noGrp="1"/>
          </p:cNvSpPr>
          <p:nvPr/>
        </p:nvSpPr>
        <p:spPr>
          <a:xfrm>
            <a:off x="929640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76" name="椭圆 75"/>
          <p:cNvSpPr>
            <a:spLocks noGrp="1"/>
          </p:cNvSpPr>
          <p:nvPr/>
        </p:nvSpPr>
        <p:spPr>
          <a:xfrm>
            <a:off x="958215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77" name="椭圆 76"/>
          <p:cNvSpPr>
            <a:spLocks noGrp="1"/>
          </p:cNvSpPr>
          <p:nvPr/>
        </p:nvSpPr>
        <p:spPr>
          <a:xfrm>
            <a:off x="986790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78" name="椭圆 77"/>
          <p:cNvSpPr>
            <a:spLocks noGrp="1"/>
          </p:cNvSpPr>
          <p:nvPr/>
        </p:nvSpPr>
        <p:spPr>
          <a:xfrm>
            <a:off x="1015365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79" name="椭圆 78"/>
          <p:cNvSpPr>
            <a:spLocks noGrp="1"/>
          </p:cNvSpPr>
          <p:nvPr/>
        </p:nvSpPr>
        <p:spPr>
          <a:xfrm>
            <a:off x="1043940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80" name="椭圆 79"/>
          <p:cNvSpPr>
            <a:spLocks noGrp="1"/>
          </p:cNvSpPr>
          <p:nvPr/>
        </p:nvSpPr>
        <p:spPr>
          <a:xfrm>
            <a:off x="10725150" y="2667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81" name="椭圆 80"/>
          <p:cNvSpPr>
            <a:spLocks noGrp="1"/>
          </p:cNvSpPr>
          <p:nvPr/>
        </p:nvSpPr>
        <p:spPr>
          <a:xfrm>
            <a:off x="586740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82" name="椭圆 81"/>
          <p:cNvSpPr>
            <a:spLocks noGrp="1"/>
          </p:cNvSpPr>
          <p:nvPr/>
        </p:nvSpPr>
        <p:spPr>
          <a:xfrm>
            <a:off x="615315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83" name="椭圆 82"/>
          <p:cNvSpPr>
            <a:spLocks noGrp="1"/>
          </p:cNvSpPr>
          <p:nvPr/>
        </p:nvSpPr>
        <p:spPr>
          <a:xfrm>
            <a:off x="643890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84" name="椭圆 83"/>
          <p:cNvSpPr>
            <a:spLocks noGrp="1"/>
          </p:cNvSpPr>
          <p:nvPr/>
        </p:nvSpPr>
        <p:spPr>
          <a:xfrm>
            <a:off x="672465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85" name="椭圆 84"/>
          <p:cNvSpPr>
            <a:spLocks noGrp="1"/>
          </p:cNvSpPr>
          <p:nvPr/>
        </p:nvSpPr>
        <p:spPr>
          <a:xfrm>
            <a:off x="701040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86" name="椭圆 85"/>
          <p:cNvSpPr>
            <a:spLocks noGrp="1"/>
          </p:cNvSpPr>
          <p:nvPr/>
        </p:nvSpPr>
        <p:spPr>
          <a:xfrm>
            <a:off x="729615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87" name="椭圆 86"/>
          <p:cNvSpPr>
            <a:spLocks noGrp="1"/>
          </p:cNvSpPr>
          <p:nvPr/>
        </p:nvSpPr>
        <p:spPr>
          <a:xfrm>
            <a:off x="758190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88" name="椭圆 87"/>
          <p:cNvSpPr>
            <a:spLocks noGrp="1"/>
          </p:cNvSpPr>
          <p:nvPr/>
        </p:nvSpPr>
        <p:spPr>
          <a:xfrm>
            <a:off x="786765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89" name="椭圆 88"/>
          <p:cNvSpPr>
            <a:spLocks noGrp="1"/>
          </p:cNvSpPr>
          <p:nvPr/>
        </p:nvSpPr>
        <p:spPr>
          <a:xfrm>
            <a:off x="815340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90" name="椭圆 89"/>
          <p:cNvSpPr>
            <a:spLocks noGrp="1"/>
          </p:cNvSpPr>
          <p:nvPr/>
        </p:nvSpPr>
        <p:spPr>
          <a:xfrm>
            <a:off x="843915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91" name="椭圆 90"/>
          <p:cNvSpPr>
            <a:spLocks noGrp="1"/>
          </p:cNvSpPr>
          <p:nvPr/>
        </p:nvSpPr>
        <p:spPr>
          <a:xfrm>
            <a:off x="872490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92" name="椭圆 91"/>
          <p:cNvSpPr>
            <a:spLocks noGrp="1"/>
          </p:cNvSpPr>
          <p:nvPr/>
        </p:nvSpPr>
        <p:spPr>
          <a:xfrm>
            <a:off x="901065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93" name="椭圆 92"/>
          <p:cNvSpPr>
            <a:spLocks noGrp="1"/>
          </p:cNvSpPr>
          <p:nvPr/>
        </p:nvSpPr>
        <p:spPr>
          <a:xfrm>
            <a:off x="929640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94" name="椭圆 93"/>
          <p:cNvSpPr>
            <a:spLocks noGrp="1"/>
          </p:cNvSpPr>
          <p:nvPr/>
        </p:nvSpPr>
        <p:spPr>
          <a:xfrm>
            <a:off x="958215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95" name="椭圆 94"/>
          <p:cNvSpPr>
            <a:spLocks noGrp="1"/>
          </p:cNvSpPr>
          <p:nvPr/>
        </p:nvSpPr>
        <p:spPr>
          <a:xfrm>
            <a:off x="986790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96" name="椭圆 95"/>
          <p:cNvSpPr>
            <a:spLocks noGrp="1"/>
          </p:cNvSpPr>
          <p:nvPr/>
        </p:nvSpPr>
        <p:spPr>
          <a:xfrm>
            <a:off x="1015365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97" name="椭圆 96"/>
          <p:cNvSpPr>
            <a:spLocks noGrp="1"/>
          </p:cNvSpPr>
          <p:nvPr/>
        </p:nvSpPr>
        <p:spPr>
          <a:xfrm>
            <a:off x="1043940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98" name="椭圆 97"/>
          <p:cNvSpPr>
            <a:spLocks noGrp="1"/>
          </p:cNvSpPr>
          <p:nvPr/>
        </p:nvSpPr>
        <p:spPr>
          <a:xfrm>
            <a:off x="10725150" y="2952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99" name="椭圆 98"/>
          <p:cNvSpPr>
            <a:spLocks noGrp="1"/>
          </p:cNvSpPr>
          <p:nvPr/>
        </p:nvSpPr>
        <p:spPr>
          <a:xfrm>
            <a:off x="586740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00" name="椭圆 99"/>
          <p:cNvSpPr>
            <a:spLocks noGrp="1"/>
          </p:cNvSpPr>
          <p:nvPr/>
        </p:nvSpPr>
        <p:spPr>
          <a:xfrm>
            <a:off x="615315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01" name="椭圆 100"/>
          <p:cNvSpPr>
            <a:spLocks noGrp="1"/>
          </p:cNvSpPr>
          <p:nvPr/>
        </p:nvSpPr>
        <p:spPr>
          <a:xfrm>
            <a:off x="643890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02" name="椭圆 101"/>
          <p:cNvSpPr>
            <a:spLocks noGrp="1"/>
          </p:cNvSpPr>
          <p:nvPr/>
        </p:nvSpPr>
        <p:spPr>
          <a:xfrm>
            <a:off x="672465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03" name="椭圆 102"/>
          <p:cNvSpPr>
            <a:spLocks noGrp="1"/>
          </p:cNvSpPr>
          <p:nvPr/>
        </p:nvSpPr>
        <p:spPr>
          <a:xfrm>
            <a:off x="701040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04" name="椭圆 103"/>
          <p:cNvSpPr>
            <a:spLocks noGrp="1"/>
          </p:cNvSpPr>
          <p:nvPr/>
        </p:nvSpPr>
        <p:spPr>
          <a:xfrm>
            <a:off x="729615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05" name="椭圆 104"/>
          <p:cNvSpPr>
            <a:spLocks noGrp="1"/>
          </p:cNvSpPr>
          <p:nvPr/>
        </p:nvSpPr>
        <p:spPr>
          <a:xfrm>
            <a:off x="758190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06" name="椭圆 105"/>
          <p:cNvSpPr>
            <a:spLocks noGrp="1"/>
          </p:cNvSpPr>
          <p:nvPr/>
        </p:nvSpPr>
        <p:spPr>
          <a:xfrm>
            <a:off x="786765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07" name="椭圆 106"/>
          <p:cNvSpPr>
            <a:spLocks noGrp="1"/>
          </p:cNvSpPr>
          <p:nvPr/>
        </p:nvSpPr>
        <p:spPr>
          <a:xfrm>
            <a:off x="815340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08" name="椭圆 107"/>
          <p:cNvSpPr>
            <a:spLocks noGrp="1"/>
          </p:cNvSpPr>
          <p:nvPr/>
        </p:nvSpPr>
        <p:spPr>
          <a:xfrm>
            <a:off x="843915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09" name="椭圆 108"/>
          <p:cNvSpPr>
            <a:spLocks noGrp="1"/>
          </p:cNvSpPr>
          <p:nvPr/>
        </p:nvSpPr>
        <p:spPr>
          <a:xfrm>
            <a:off x="872490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10" name="椭圆 109"/>
          <p:cNvSpPr>
            <a:spLocks noGrp="1"/>
          </p:cNvSpPr>
          <p:nvPr/>
        </p:nvSpPr>
        <p:spPr>
          <a:xfrm>
            <a:off x="901065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11" name="椭圆 110"/>
          <p:cNvSpPr>
            <a:spLocks noGrp="1"/>
          </p:cNvSpPr>
          <p:nvPr/>
        </p:nvSpPr>
        <p:spPr>
          <a:xfrm>
            <a:off x="929640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12" name="椭圆 111"/>
          <p:cNvSpPr>
            <a:spLocks noGrp="1"/>
          </p:cNvSpPr>
          <p:nvPr/>
        </p:nvSpPr>
        <p:spPr>
          <a:xfrm>
            <a:off x="958215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13" name="椭圆 112"/>
          <p:cNvSpPr>
            <a:spLocks noGrp="1"/>
          </p:cNvSpPr>
          <p:nvPr/>
        </p:nvSpPr>
        <p:spPr>
          <a:xfrm>
            <a:off x="986790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14" name="椭圆 113"/>
          <p:cNvSpPr>
            <a:spLocks noGrp="1"/>
          </p:cNvSpPr>
          <p:nvPr/>
        </p:nvSpPr>
        <p:spPr>
          <a:xfrm>
            <a:off x="1015365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15" name="椭圆 114"/>
          <p:cNvSpPr>
            <a:spLocks noGrp="1"/>
          </p:cNvSpPr>
          <p:nvPr/>
        </p:nvSpPr>
        <p:spPr>
          <a:xfrm>
            <a:off x="1043940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16" name="椭圆 115"/>
          <p:cNvSpPr>
            <a:spLocks noGrp="1"/>
          </p:cNvSpPr>
          <p:nvPr/>
        </p:nvSpPr>
        <p:spPr>
          <a:xfrm>
            <a:off x="10725150" y="323850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17" name="椭圆 116"/>
          <p:cNvSpPr>
            <a:spLocks noGrp="1"/>
          </p:cNvSpPr>
          <p:nvPr/>
        </p:nvSpPr>
        <p:spPr>
          <a:xfrm>
            <a:off x="586740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18" name="椭圆 117"/>
          <p:cNvSpPr>
            <a:spLocks noGrp="1"/>
          </p:cNvSpPr>
          <p:nvPr/>
        </p:nvSpPr>
        <p:spPr>
          <a:xfrm>
            <a:off x="615315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19" name="椭圆 118"/>
          <p:cNvSpPr>
            <a:spLocks noGrp="1"/>
          </p:cNvSpPr>
          <p:nvPr/>
        </p:nvSpPr>
        <p:spPr>
          <a:xfrm>
            <a:off x="643890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20" name="椭圆 119"/>
          <p:cNvSpPr>
            <a:spLocks noGrp="1"/>
          </p:cNvSpPr>
          <p:nvPr/>
        </p:nvSpPr>
        <p:spPr>
          <a:xfrm>
            <a:off x="672465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21" name="椭圆 120"/>
          <p:cNvSpPr>
            <a:spLocks noGrp="1"/>
          </p:cNvSpPr>
          <p:nvPr/>
        </p:nvSpPr>
        <p:spPr>
          <a:xfrm>
            <a:off x="701040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22" name="椭圆 121"/>
          <p:cNvSpPr>
            <a:spLocks noGrp="1"/>
          </p:cNvSpPr>
          <p:nvPr/>
        </p:nvSpPr>
        <p:spPr>
          <a:xfrm>
            <a:off x="729615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23" name="椭圆 122"/>
          <p:cNvSpPr>
            <a:spLocks noGrp="1"/>
          </p:cNvSpPr>
          <p:nvPr/>
        </p:nvSpPr>
        <p:spPr>
          <a:xfrm>
            <a:off x="758190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24" name="椭圆 123"/>
          <p:cNvSpPr>
            <a:spLocks noGrp="1"/>
          </p:cNvSpPr>
          <p:nvPr/>
        </p:nvSpPr>
        <p:spPr>
          <a:xfrm>
            <a:off x="786765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25" name="椭圆 124"/>
          <p:cNvSpPr>
            <a:spLocks noGrp="1"/>
          </p:cNvSpPr>
          <p:nvPr/>
        </p:nvSpPr>
        <p:spPr>
          <a:xfrm>
            <a:off x="815340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26" name="椭圆 125"/>
          <p:cNvSpPr>
            <a:spLocks noGrp="1"/>
          </p:cNvSpPr>
          <p:nvPr/>
        </p:nvSpPr>
        <p:spPr>
          <a:xfrm>
            <a:off x="843915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27" name="椭圆 126"/>
          <p:cNvSpPr>
            <a:spLocks noGrp="1"/>
          </p:cNvSpPr>
          <p:nvPr/>
        </p:nvSpPr>
        <p:spPr>
          <a:xfrm>
            <a:off x="872490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28" name="椭圆 127"/>
          <p:cNvSpPr>
            <a:spLocks noGrp="1"/>
          </p:cNvSpPr>
          <p:nvPr/>
        </p:nvSpPr>
        <p:spPr>
          <a:xfrm>
            <a:off x="901065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29" name="椭圆 128"/>
          <p:cNvSpPr>
            <a:spLocks noGrp="1"/>
          </p:cNvSpPr>
          <p:nvPr/>
        </p:nvSpPr>
        <p:spPr>
          <a:xfrm>
            <a:off x="929640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30" name="椭圆 129"/>
          <p:cNvSpPr>
            <a:spLocks noGrp="1"/>
          </p:cNvSpPr>
          <p:nvPr/>
        </p:nvSpPr>
        <p:spPr>
          <a:xfrm>
            <a:off x="958215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31" name="椭圆 130"/>
          <p:cNvSpPr>
            <a:spLocks noGrp="1"/>
          </p:cNvSpPr>
          <p:nvPr/>
        </p:nvSpPr>
        <p:spPr>
          <a:xfrm>
            <a:off x="986790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32" name="椭圆 131"/>
          <p:cNvSpPr>
            <a:spLocks noGrp="1"/>
          </p:cNvSpPr>
          <p:nvPr/>
        </p:nvSpPr>
        <p:spPr>
          <a:xfrm>
            <a:off x="1015365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33" name="椭圆 132"/>
          <p:cNvSpPr>
            <a:spLocks noGrp="1"/>
          </p:cNvSpPr>
          <p:nvPr/>
        </p:nvSpPr>
        <p:spPr>
          <a:xfrm>
            <a:off x="1043940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34" name="椭圆 133"/>
          <p:cNvSpPr>
            <a:spLocks noGrp="1"/>
          </p:cNvSpPr>
          <p:nvPr/>
        </p:nvSpPr>
        <p:spPr>
          <a:xfrm>
            <a:off x="10725150" y="3524250"/>
            <a:ext cx="114300" cy="114300"/>
          </a:xfrm>
          <a:prstGeom prst="ellipse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135" name="椭圆 134"/>
          <p:cNvSpPr>
            <a:spLocks noGrp="1"/>
          </p:cNvSpPr>
          <p:nvPr/>
        </p:nvSpPr>
        <p:spPr>
          <a:xfrm>
            <a:off x="586740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36" name="椭圆 135"/>
          <p:cNvSpPr>
            <a:spLocks noGrp="1"/>
          </p:cNvSpPr>
          <p:nvPr/>
        </p:nvSpPr>
        <p:spPr>
          <a:xfrm>
            <a:off x="615315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37" name="椭圆 136"/>
          <p:cNvSpPr>
            <a:spLocks noGrp="1"/>
          </p:cNvSpPr>
          <p:nvPr/>
        </p:nvSpPr>
        <p:spPr>
          <a:xfrm>
            <a:off x="643890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38" name="椭圆 137"/>
          <p:cNvSpPr>
            <a:spLocks noGrp="1"/>
          </p:cNvSpPr>
          <p:nvPr/>
        </p:nvSpPr>
        <p:spPr>
          <a:xfrm>
            <a:off x="672465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39" name="椭圆 138"/>
          <p:cNvSpPr>
            <a:spLocks noGrp="1"/>
          </p:cNvSpPr>
          <p:nvPr/>
        </p:nvSpPr>
        <p:spPr>
          <a:xfrm>
            <a:off x="701040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40" name="椭圆 139"/>
          <p:cNvSpPr>
            <a:spLocks noGrp="1"/>
          </p:cNvSpPr>
          <p:nvPr/>
        </p:nvSpPr>
        <p:spPr>
          <a:xfrm>
            <a:off x="729615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41" name="椭圆 140"/>
          <p:cNvSpPr>
            <a:spLocks noGrp="1"/>
          </p:cNvSpPr>
          <p:nvPr/>
        </p:nvSpPr>
        <p:spPr>
          <a:xfrm>
            <a:off x="758190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42" name="椭圆 141"/>
          <p:cNvSpPr>
            <a:spLocks noGrp="1"/>
          </p:cNvSpPr>
          <p:nvPr/>
        </p:nvSpPr>
        <p:spPr>
          <a:xfrm>
            <a:off x="786765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43" name="椭圆 142"/>
          <p:cNvSpPr>
            <a:spLocks noGrp="1"/>
          </p:cNvSpPr>
          <p:nvPr/>
        </p:nvSpPr>
        <p:spPr>
          <a:xfrm>
            <a:off x="815340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44" name="椭圆 143"/>
          <p:cNvSpPr>
            <a:spLocks noGrp="1"/>
          </p:cNvSpPr>
          <p:nvPr/>
        </p:nvSpPr>
        <p:spPr>
          <a:xfrm>
            <a:off x="843915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45" name="椭圆 144"/>
          <p:cNvSpPr>
            <a:spLocks noGrp="1"/>
          </p:cNvSpPr>
          <p:nvPr/>
        </p:nvSpPr>
        <p:spPr>
          <a:xfrm>
            <a:off x="872490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46" name="椭圆 145"/>
          <p:cNvSpPr>
            <a:spLocks noGrp="1"/>
          </p:cNvSpPr>
          <p:nvPr/>
        </p:nvSpPr>
        <p:spPr>
          <a:xfrm>
            <a:off x="901065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47" name="椭圆 146"/>
          <p:cNvSpPr>
            <a:spLocks noGrp="1"/>
          </p:cNvSpPr>
          <p:nvPr/>
        </p:nvSpPr>
        <p:spPr>
          <a:xfrm>
            <a:off x="929640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48" name="椭圆 147"/>
          <p:cNvSpPr>
            <a:spLocks noGrp="1"/>
          </p:cNvSpPr>
          <p:nvPr/>
        </p:nvSpPr>
        <p:spPr>
          <a:xfrm>
            <a:off x="958215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49" name="椭圆 148"/>
          <p:cNvSpPr>
            <a:spLocks noGrp="1"/>
          </p:cNvSpPr>
          <p:nvPr/>
        </p:nvSpPr>
        <p:spPr>
          <a:xfrm>
            <a:off x="986790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50" name="椭圆 149"/>
          <p:cNvSpPr>
            <a:spLocks noGrp="1"/>
          </p:cNvSpPr>
          <p:nvPr/>
        </p:nvSpPr>
        <p:spPr>
          <a:xfrm>
            <a:off x="1015365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51" name="椭圆 150"/>
          <p:cNvSpPr>
            <a:spLocks noGrp="1"/>
          </p:cNvSpPr>
          <p:nvPr/>
        </p:nvSpPr>
        <p:spPr>
          <a:xfrm>
            <a:off x="1043940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52" name="椭圆 151"/>
          <p:cNvSpPr>
            <a:spLocks noGrp="1"/>
          </p:cNvSpPr>
          <p:nvPr/>
        </p:nvSpPr>
        <p:spPr>
          <a:xfrm>
            <a:off x="10725150" y="38100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53" name="椭圆 152"/>
          <p:cNvSpPr>
            <a:spLocks noGrp="1"/>
          </p:cNvSpPr>
          <p:nvPr/>
        </p:nvSpPr>
        <p:spPr>
          <a:xfrm>
            <a:off x="586740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54" name="椭圆 153"/>
          <p:cNvSpPr>
            <a:spLocks noGrp="1"/>
          </p:cNvSpPr>
          <p:nvPr/>
        </p:nvSpPr>
        <p:spPr>
          <a:xfrm>
            <a:off x="615315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55" name="椭圆 154"/>
          <p:cNvSpPr>
            <a:spLocks noGrp="1"/>
          </p:cNvSpPr>
          <p:nvPr/>
        </p:nvSpPr>
        <p:spPr>
          <a:xfrm>
            <a:off x="643890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56" name="椭圆 155"/>
          <p:cNvSpPr>
            <a:spLocks noGrp="1"/>
          </p:cNvSpPr>
          <p:nvPr/>
        </p:nvSpPr>
        <p:spPr>
          <a:xfrm>
            <a:off x="672465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57" name="椭圆 156"/>
          <p:cNvSpPr>
            <a:spLocks noGrp="1"/>
          </p:cNvSpPr>
          <p:nvPr/>
        </p:nvSpPr>
        <p:spPr>
          <a:xfrm>
            <a:off x="701040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58" name="椭圆 157"/>
          <p:cNvSpPr>
            <a:spLocks noGrp="1"/>
          </p:cNvSpPr>
          <p:nvPr/>
        </p:nvSpPr>
        <p:spPr>
          <a:xfrm>
            <a:off x="729615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59" name="椭圆 158"/>
          <p:cNvSpPr>
            <a:spLocks noGrp="1"/>
          </p:cNvSpPr>
          <p:nvPr/>
        </p:nvSpPr>
        <p:spPr>
          <a:xfrm>
            <a:off x="758190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60" name="椭圆 159"/>
          <p:cNvSpPr>
            <a:spLocks noGrp="1"/>
          </p:cNvSpPr>
          <p:nvPr/>
        </p:nvSpPr>
        <p:spPr>
          <a:xfrm>
            <a:off x="786765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61" name="椭圆 160"/>
          <p:cNvSpPr>
            <a:spLocks noGrp="1"/>
          </p:cNvSpPr>
          <p:nvPr/>
        </p:nvSpPr>
        <p:spPr>
          <a:xfrm>
            <a:off x="815340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62" name="椭圆 161"/>
          <p:cNvSpPr>
            <a:spLocks noGrp="1"/>
          </p:cNvSpPr>
          <p:nvPr/>
        </p:nvSpPr>
        <p:spPr>
          <a:xfrm>
            <a:off x="843915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63" name="椭圆 162"/>
          <p:cNvSpPr>
            <a:spLocks noGrp="1"/>
          </p:cNvSpPr>
          <p:nvPr/>
        </p:nvSpPr>
        <p:spPr>
          <a:xfrm>
            <a:off x="872490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64" name="椭圆 163"/>
          <p:cNvSpPr>
            <a:spLocks noGrp="1"/>
          </p:cNvSpPr>
          <p:nvPr/>
        </p:nvSpPr>
        <p:spPr>
          <a:xfrm>
            <a:off x="901065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65" name="椭圆 164"/>
          <p:cNvSpPr>
            <a:spLocks noGrp="1"/>
          </p:cNvSpPr>
          <p:nvPr/>
        </p:nvSpPr>
        <p:spPr>
          <a:xfrm>
            <a:off x="929640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66" name="椭圆 165"/>
          <p:cNvSpPr>
            <a:spLocks noGrp="1"/>
          </p:cNvSpPr>
          <p:nvPr/>
        </p:nvSpPr>
        <p:spPr>
          <a:xfrm>
            <a:off x="958215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67" name="椭圆 166"/>
          <p:cNvSpPr>
            <a:spLocks noGrp="1"/>
          </p:cNvSpPr>
          <p:nvPr/>
        </p:nvSpPr>
        <p:spPr>
          <a:xfrm>
            <a:off x="986790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68" name="椭圆 167"/>
          <p:cNvSpPr>
            <a:spLocks noGrp="1"/>
          </p:cNvSpPr>
          <p:nvPr/>
        </p:nvSpPr>
        <p:spPr>
          <a:xfrm>
            <a:off x="1015365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69" name="椭圆 168"/>
          <p:cNvSpPr>
            <a:spLocks noGrp="1"/>
          </p:cNvSpPr>
          <p:nvPr/>
        </p:nvSpPr>
        <p:spPr>
          <a:xfrm>
            <a:off x="1043940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70" name="椭圆 169"/>
          <p:cNvSpPr>
            <a:spLocks noGrp="1"/>
          </p:cNvSpPr>
          <p:nvPr/>
        </p:nvSpPr>
        <p:spPr>
          <a:xfrm>
            <a:off x="10725150" y="409575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71" name="椭圆 170"/>
          <p:cNvSpPr>
            <a:spLocks noGrp="1"/>
          </p:cNvSpPr>
          <p:nvPr/>
        </p:nvSpPr>
        <p:spPr>
          <a:xfrm>
            <a:off x="586740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72" name="椭圆 171"/>
          <p:cNvSpPr>
            <a:spLocks noGrp="1"/>
          </p:cNvSpPr>
          <p:nvPr/>
        </p:nvSpPr>
        <p:spPr>
          <a:xfrm>
            <a:off x="615315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73" name="椭圆 172"/>
          <p:cNvSpPr>
            <a:spLocks noGrp="1"/>
          </p:cNvSpPr>
          <p:nvPr/>
        </p:nvSpPr>
        <p:spPr>
          <a:xfrm>
            <a:off x="643890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74" name="椭圆 173"/>
          <p:cNvSpPr>
            <a:spLocks noGrp="1"/>
          </p:cNvSpPr>
          <p:nvPr/>
        </p:nvSpPr>
        <p:spPr>
          <a:xfrm>
            <a:off x="672465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75" name="椭圆 174"/>
          <p:cNvSpPr>
            <a:spLocks noGrp="1"/>
          </p:cNvSpPr>
          <p:nvPr/>
        </p:nvSpPr>
        <p:spPr>
          <a:xfrm>
            <a:off x="701040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76" name="椭圆 175"/>
          <p:cNvSpPr>
            <a:spLocks noGrp="1"/>
          </p:cNvSpPr>
          <p:nvPr/>
        </p:nvSpPr>
        <p:spPr>
          <a:xfrm>
            <a:off x="729615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77" name="椭圆 176"/>
          <p:cNvSpPr>
            <a:spLocks noGrp="1"/>
          </p:cNvSpPr>
          <p:nvPr/>
        </p:nvSpPr>
        <p:spPr>
          <a:xfrm>
            <a:off x="758190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78" name="椭圆 177"/>
          <p:cNvSpPr>
            <a:spLocks noGrp="1"/>
          </p:cNvSpPr>
          <p:nvPr/>
        </p:nvSpPr>
        <p:spPr>
          <a:xfrm>
            <a:off x="786765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79" name="椭圆 178"/>
          <p:cNvSpPr>
            <a:spLocks noGrp="1"/>
          </p:cNvSpPr>
          <p:nvPr/>
        </p:nvSpPr>
        <p:spPr>
          <a:xfrm>
            <a:off x="815340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80" name="椭圆 179"/>
          <p:cNvSpPr>
            <a:spLocks noGrp="1"/>
          </p:cNvSpPr>
          <p:nvPr/>
        </p:nvSpPr>
        <p:spPr>
          <a:xfrm>
            <a:off x="843915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81" name="椭圆 180"/>
          <p:cNvSpPr>
            <a:spLocks noGrp="1"/>
          </p:cNvSpPr>
          <p:nvPr/>
        </p:nvSpPr>
        <p:spPr>
          <a:xfrm>
            <a:off x="872490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82" name="椭圆 181"/>
          <p:cNvSpPr>
            <a:spLocks noGrp="1"/>
          </p:cNvSpPr>
          <p:nvPr/>
        </p:nvSpPr>
        <p:spPr>
          <a:xfrm>
            <a:off x="901065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83" name="椭圆 182"/>
          <p:cNvSpPr>
            <a:spLocks noGrp="1"/>
          </p:cNvSpPr>
          <p:nvPr/>
        </p:nvSpPr>
        <p:spPr>
          <a:xfrm>
            <a:off x="929640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84" name="椭圆 183"/>
          <p:cNvSpPr>
            <a:spLocks noGrp="1"/>
          </p:cNvSpPr>
          <p:nvPr/>
        </p:nvSpPr>
        <p:spPr>
          <a:xfrm>
            <a:off x="958215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85" name="椭圆 184"/>
          <p:cNvSpPr>
            <a:spLocks noGrp="1"/>
          </p:cNvSpPr>
          <p:nvPr/>
        </p:nvSpPr>
        <p:spPr>
          <a:xfrm>
            <a:off x="986790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86" name="椭圆 185"/>
          <p:cNvSpPr>
            <a:spLocks noGrp="1"/>
          </p:cNvSpPr>
          <p:nvPr/>
        </p:nvSpPr>
        <p:spPr>
          <a:xfrm>
            <a:off x="1015365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87" name="椭圆 186"/>
          <p:cNvSpPr>
            <a:spLocks noGrp="1"/>
          </p:cNvSpPr>
          <p:nvPr/>
        </p:nvSpPr>
        <p:spPr>
          <a:xfrm>
            <a:off x="1043940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88" name="椭圆 187"/>
          <p:cNvSpPr>
            <a:spLocks noGrp="1"/>
          </p:cNvSpPr>
          <p:nvPr/>
        </p:nvSpPr>
        <p:spPr>
          <a:xfrm>
            <a:off x="10725150" y="4381500"/>
            <a:ext cx="114300" cy="114300"/>
          </a:xfrm>
          <a:prstGeom prst="ellipse">
            <a:avLst/>
          </a:prstGeom>
          <a:solidFill>
            <a:srgbClr val="15324A"/>
          </a:solidFill>
          <a:ln w="0">
            <a:noFill/>
            <a:prstDash val="solid"/>
          </a:ln>
        </p:spPr>
      </p:sp>
      <p:sp>
        <p:nvSpPr>
          <p:cNvPr id="189" name="矩形 188"/>
          <p:cNvSpPr>
            <a:spLocks noGrp="1"/>
          </p:cNvSpPr>
          <p:nvPr/>
        </p:nvSpPr>
        <p:spPr>
          <a:xfrm>
            <a:off x="781050" y="39052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B45C"/>
                </a:solidFill>
              </a:defRPr>
            </a:pPr>
            <a:r>
              <a:rPr sz="1125" b="1">
                <a:solidFill>
                  <a:srgbClr val="FFB45C"/>
                </a:solidFill>
              </a:rPr>
              <a:t>01</a:t>
            </a:r>
            <a:endParaRPr sz="1125" b="1">
              <a:solidFill>
                <a:srgbClr val="FFB45C"/>
              </a:solidFill>
            </a:endParaRPr>
          </a:p>
        </p:txBody>
      </p:sp>
      <p:sp>
        <p:nvSpPr>
          <p:cNvPr id="190" name="矩形 189"/>
          <p:cNvSpPr>
            <a:spLocks noGrp="1"/>
          </p:cNvSpPr>
          <p:nvPr/>
        </p:nvSpPr>
        <p:spPr>
          <a:xfrm>
            <a:off x="781050" y="42481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5F9FC"/>
                </a:solidFill>
              </a:defRPr>
            </a:pPr>
            <a:r>
              <a:rPr sz="1500" b="1">
                <a:solidFill>
                  <a:srgbClr val="F5F9FC"/>
                </a:solidFill>
              </a:rPr>
              <a:t>试点</a:t>
            </a:r>
            <a:endParaRPr sz="1500" b="1">
              <a:solidFill>
                <a:srgbClr val="F5F9FC"/>
              </a:solidFill>
            </a:endParaRPr>
          </a:p>
        </p:txBody>
      </p:sp>
      <p:sp>
        <p:nvSpPr>
          <p:cNvPr id="191" name="矩形 190"/>
          <p:cNvSpPr>
            <a:spLocks noGrp="1"/>
          </p:cNvSpPr>
          <p:nvPr/>
        </p:nvSpPr>
        <p:spPr>
          <a:xfrm>
            <a:off x="781050" y="4581525"/>
            <a:ext cx="971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8EA8BA"/>
                </a:solidFill>
              </a:defRPr>
            </a:pPr>
            <a:r>
              <a:rPr sz="1200" b="0">
                <a:solidFill>
                  <a:srgbClr val="8EA8BA"/>
                </a:solidFill>
              </a:rPr>
              <a:t>10 家</a:t>
            </a:r>
            <a:endParaRPr sz="1200" b="0">
              <a:solidFill>
                <a:srgbClr val="8EA8BA"/>
              </a:solidFill>
            </a:endParaRPr>
          </a:p>
        </p:txBody>
      </p:sp>
      <p:sp>
        <p:nvSpPr>
          <p:cNvPr id="192" name="直接连接符 191"/>
          <p:cNvSpPr>
            <a:spLocks noGrp="1"/>
          </p:cNvSpPr>
          <p:nvPr/>
        </p:nvSpPr>
        <p:spPr>
          <a:xfrm>
            <a:off x="1543050" y="4371975"/>
            <a:ext cx="323850" cy="0"/>
          </a:xfrm>
          <a:prstGeom prst="line">
            <a:avLst/>
          </a:prstGeom>
          <a:noFill/>
          <a:ln w="19050">
            <a:solidFill>
              <a:srgbClr val="23445C"/>
            </a:solidFill>
            <a:prstDash val="solid"/>
          </a:ln>
        </p:spPr>
      </p:sp>
      <p:sp>
        <p:nvSpPr>
          <p:cNvPr id="193" name="矩形 192"/>
          <p:cNvSpPr>
            <a:spLocks noGrp="1"/>
          </p:cNvSpPr>
          <p:nvPr/>
        </p:nvSpPr>
        <p:spPr>
          <a:xfrm>
            <a:off x="2000250" y="39052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  <a:endParaRPr sz="1125" b="1">
              <a:solidFill>
                <a:srgbClr val="36D6C2"/>
              </a:solidFill>
            </a:endParaRPr>
          </a:p>
        </p:txBody>
      </p:sp>
      <p:sp>
        <p:nvSpPr>
          <p:cNvPr id="194" name="矩形 193"/>
          <p:cNvSpPr>
            <a:spLocks noGrp="1"/>
          </p:cNvSpPr>
          <p:nvPr/>
        </p:nvSpPr>
        <p:spPr>
          <a:xfrm>
            <a:off x="2000250" y="42481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5F9FC"/>
                </a:solidFill>
              </a:defRPr>
            </a:pPr>
            <a:r>
              <a:rPr sz="1500" b="1">
                <a:solidFill>
                  <a:srgbClr val="F5F9FC"/>
                </a:solidFill>
              </a:rPr>
              <a:t>验证</a:t>
            </a:r>
            <a:endParaRPr sz="1500" b="1">
              <a:solidFill>
                <a:srgbClr val="F5F9FC"/>
              </a:solidFill>
            </a:endParaRPr>
          </a:p>
        </p:txBody>
      </p:sp>
      <p:sp>
        <p:nvSpPr>
          <p:cNvPr id="195" name="矩形 194"/>
          <p:cNvSpPr>
            <a:spLocks noGrp="1"/>
          </p:cNvSpPr>
          <p:nvPr/>
        </p:nvSpPr>
        <p:spPr>
          <a:xfrm>
            <a:off x="2000250" y="4581525"/>
            <a:ext cx="971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8EA8BA"/>
                </a:solidFill>
              </a:defRPr>
            </a:pPr>
            <a:r>
              <a:rPr sz="1200" b="0">
                <a:solidFill>
                  <a:srgbClr val="8EA8BA"/>
                </a:solidFill>
              </a:rPr>
              <a:t>100 家</a:t>
            </a:r>
            <a:endParaRPr sz="1200" b="0">
              <a:solidFill>
                <a:srgbClr val="8EA8BA"/>
              </a:solidFill>
            </a:endParaRPr>
          </a:p>
        </p:txBody>
      </p:sp>
      <p:sp>
        <p:nvSpPr>
          <p:cNvPr id="196" name="直接连接符 195"/>
          <p:cNvSpPr>
            <a:spLocks noGrp="1"/>
          </p:cNvSpPr>
          <p:nvPr/>
        </p:nvSpPr>
        <p:spPr>
          <a:xfrm>
            <a:off x="2762250" y="4371975"/>
            <a:ext cx="323850" cy="0"/>
          </a:xfrm>
          <a:prstGeom prst="line">
            <a:avLst/>
          </a:prstGeom>
          <a:noFill/>
          <a:ln w="19050">
            <a:solidFill>
              <a:srgbClr val="23445C"/>
            </a:solidFill>
            <a:prstDash val="solid"/>
          </a:ln>
        </p:spPr>
      </p:sp>
      <p:sp>
        <p:nvSpPr>
          <p:cNvPr id="197" name="矩形 196"/>
          <p:cNvSpPr>
            <a:spLocks noGrp="1"/>
          </p:cNvSpPr>
          <p:nvPr/>
        </p:nvSpPr>
        <p:spPr>
          <a:xfrm>
            <a:off x="3219450" y="39052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8BB3FF"/>
                </a:solidFill>
              </a:defRPr>
            </a:pPr>
            <a:r>
              <a:rPr sz="1125" b="1">
                <a:solidFill>
                  <a:srgbClr val="8BB3FF"/>
                </a:solidFill>
              </a:rPr>
              <a:t>03</a:t>
            </a:r>
            <a:endParaRPr sz="1125" b="1">
              <a:solidFill>
                <a:srgbClr val="8BB3FF"/>
              </a:solidFill>
            </a:endParaRPr>
          </a:p>
        </p:txBody>
      </p:sp>
      <p:sp>
        <p:nvSpPr>
          <p:cNvPr id="198" name="矩形 197"/>
          <p:cNvSpPr>
            <a:spLocks noGrp="1"/>
          </p:cNvSpPr>
          <p:nvPr/>
        </p:nvSpPr>
        <p:spPr>
          <a:xfrm>
            <a:off x="3219450" y="42481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5F9FC"/>
                </a:solidFill>
              </a:defRPr>
            </a:pPr>
            <a:r>
              <a:rPr sz="1500" b="1">
                <a:solidFill>
                  <a:srgbClr val="F5F9FC"/>
                </a:solidFill>
              </a:rPr>
              <a:t>扩围</a:t>
            </a:r>
            <a:endParaRPr sz="1500" b="1">
              <a:solidFill>
                <a:srgbClr val="F5F9FC"/>
              </a:solidFill>
            </a:endParaRPr>
          </a:p>
        </p:txBody>
      </p:sp>
      <p:sp>
        <p:nvSpPr>
          <p:cNvPr id="199" name="矩形 198"/>
          <p:cNvSpPr>
            <a:spLocks noGrp="1"/>
          </p:cNvSpPr>
          <p:nvPr/>
        </p:nvSpPr>
        <p:spPr>
          <a:xfrm>
            <a:off x="3219450" y="4581525"/>
            <a:ext cx="971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8EA8BA"/>
                </a:solidFill>
              </a:defRPr>
            </a:pPr>
            <a:r>
              <a:rPr sz="1200" b="0">
                <a:solidFill>
                  <a:srgbClr val="8EA8BA"/>
                </a:solidFill>
              </a:rPr>
              <a:t>1,000 家</a:t>
            </a:r>
            <a:endParaRPr sz="1200" b="0">
              <a:solidFill>
                <a:srgbClr val="8EA8BA"/>
              </a:solidFill>
            </a:endParaRPr>
          </a:p>
        </p:txBody>
      </p:sp>
      <p:sp>
        <p:nvSpPr>
          <p:cNvPr id="200" name="直接连接符 199"/>
          <p:cNvSpPr>
            <a:spLocks noGrp="1"/>
          </p:cNvSpPr>
          <p:nvPr/>
        </p:nvSpPr>
        <p:spPr>
          <a:xfrm>
            <a:off x="3981450" y="4371975"/>
            <a:ext cx="323850" cy="0"/>
          </a:xfrm>
          <a:prstGeom prst="line">
            <a:avLst/>
          </a:prstGeom>
          <a:noFill/>
          <a:ln w="19050">
            <a:solidFill>
              <a:srgbClr val="23445C"/>
            </a:solidFill>
            <a:prstDash val="solid"/>
          </a:ln>
        </p:spPr>
      </p:sp>
      <p:sp>
        <p:nvSpPr>
          <p:cNvPr id="201" name="矩形 200"/>
          <p:cNvSpPr>
            <a:spLocks noGrp="1"/>
          </p:cNvSpPr>
          <p:nvPr/>
        </p:nvSpPr>
        <p:spPr>
          <a:xfrm>
            <a:off x="4438650" y="39052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FE0A1"/>
                </a:solidFill>
              </a:defRPr>
            </a:pPr>
            <a:r>
              <a:rPr sz="1125" b="1">
                <a:solidFill>
                  <a:srgbClr val="5FE0A1"/>
                </a:solidFill>
              </a:rPr>
              <a:t>04</a:t>
            </a:r>
            <a:endParaRPr sz="1125" b="1">
              <a:solidFill>
                <a:srgbClr val="5FE0A1"/>
              </a:solidFill>
            </a:endParaRPr>
          </a:p>
        </p:txBody>
      </p:sp>
      <p:sp>
        <p:nvSpPr>
          <p:cNvPr id="202" name="矩形 201"/>
          <p:cNvSpPr>
            <a:spLocks noGrp="1"/>
          </p:cNvSpPr>
          <p:nvPr/>
        </p:nvSpPr>
        <p:spPr>
          <a:xfrm>
            <a:off x="4438650" y="42481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5F9FC"/>
                </a:solidFill>
              </a:defRPr>
            </a:pPr>
            <a:r>
              <a:rPr sz="1500" b="1">
                <a:solidFill>
                  <a:srgbClr val="F5F9FC"/>
                </a:solidFill>
              </a:rPr>
              <a:t>全量</a:t>
            </a:r>
            <a:endParaRPr sz="1500" b="1">
              <a:solidFill>
                <a:srgbClr val="F5F9FC"/>
              </a:solidFill>
            </a:endParaRPr>
          </a:p>
        </p:txBody>
      </p:sp>
      <p:sp>
        <p:nvSpPr>
          <p:cNvPr id="203" name="矩形 202"/>
          <p:cNvSpPr>
            <a:spLocks noGrp="1"/>
          </p:cNvSpPr>
          <p:nvPr/>
        </p:nvSpPr>
        <p:spPr>
          <a:xfrm>
            <a:off x="4438650" y="4581525"/>
            <a:ext cx="971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8EA8BA"/>
                </a:solidFill>
              </a:defRPr>
            </a:pPr>
            <a:r>
              <a:rPr sz="1200" b="0">
                <a:solidFill>
                  <a:srgbClr val="8EA8BA"/>
                </a:solidFill>
              </a:rPr>
              <a:t>全部门店</a:t>
            </a:r>
            <a:endParaRPr sz="1200" b="0">
              <a:solidFill>
                <a:srgbClr val="8EA8BA"/>
              </a:solidFill>
            </a:endParaRPr>
          </a:p>
        </p:txBody>
      </p:sp>
      <p:sp>
        <p:nvSpPr>
          <p:cNvPr id="204" name="圆角矩形 203"/>
          <p:cNvSpPr>
            <a:spLocks noGrp="1"/>
          </p:cNvSpPr>
          <p:nvPr/>
        </p:nvSpPr>
        <p:spPr>
          <a:xfrm>
            <a:off x="781050" y="5219700"/>
            <a:ext cx="10325100" cy="590550"/>
          </a:xfrm>
          <a:prstGeom prst="roundRect">
            <a:avLst>
              <a:gd name="adj" fmla="val 22581"/>
            </a:avLst>
          </a:prstGeom>
          <a:solidFill>
            <a:srgbClr val="0D2236"/>
          </a:solidFill>
          <a:ln w="9525">
            <a:solidFill>
              <a:srgbClr val="23445C"/>
            </a:solidFill>
            <a:prstDash val="solid"/>
          </a:ln>
        </p:spPr>
      </p:sp>
      <p:sp>
        <p:nvSpPr>
          <p:cNvPr id="205" name="矩形 204"/>
          <p:cNvSpPr>
            <a:spLocks noGrp="1"/>
          </p:cNvSpPr>
          <p:nvPr/>
        </p:nvSpPr>
        <p:spPr>
          <a:xfrm>
            <a:off x="1066800" y="5362575"/>
            <a:ext cx="975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发布从一次性赌博，变成可观察、可回退、可逐步扩大的经营动作。</a:t>
            </a:r>
            <a:endParaRPr sz="1800" b="1">
              <a:solidFill>
                <a:srgbClr val="F5F9F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多租户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9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一套产品，服务不同等级与合规要求的企业客户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09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33425" y="3352800"/>
            <a:ext cx="1876425" cy="1428750"/>
          </a:xfrm>
          <a:prstGeom prst="roundRect">
            <a:avLst>
              <a:gd name="adj" fmla="val 10667"/>
            </a:avLst>
          </a:prstGeom>
          <a:solidFill>
            <a:srgbClr val="0D2236"/>
          </a:solidFill>
          <a:ln w="19050">
            <a:solidFill>
              <a:srgbClr val="36D6C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04875" y="35242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  <a:endParaRPr sz="1125" b="1">
              <a:solidFill>
                <a:srgbClr val="36D6C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04875" y="38671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5F9FC"/>
                </a:solidFill>
              </a:defRPr>
            </a:pPr>
            <a:r>
              <a:rPr sz="1650" b="1">
                <a:solidFill>
                  <a:srgbClr val="F5F9FC"/>
                </a:solidFill>
              </a:rPr>
              <a:t>共享表</a:t>
            </a:r>
            <a:endParaRPr sz="1650" b="1">
              <a:solidFill>
                <a:srgbClr val="F5F9F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04875" y="424815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大量标准客户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04875" y="4381500"/>
            <a:ext cx="1543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成本最低</a:t>
            </a:r>
            <a:endParaRPr sz="1200" b="1">
              <a:solidFill>
                <a:srgbClr val="36D6C2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2933700" y="3143250"/>
            <a:ext cx="1876425" cy="1638300"/>
          </a:xfrm>
          <a:prstGeom prst="roundRect">
            <a:avLst>
              <a:gd name="adj" fmla="val 9302"/>
            </a:avLst>
          </a:prstGeom>
          <a:solidFill>
            <a:srgbClr val="0D2236"/>
          </a:solidFill>
          <a:ln w="19050">
            <a:solidFill>
              <a:srgbClr val="8BB3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105150" y="331470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8BB3FF"/>
                </a:solidFill>
              </a:defRPr>
            </a:pPr>
            <a:r>
              <a:rPr sz="1125" b="1">
                <a:solidFill>
                  <a:srgbClr val="8BB3FF"/>
                </a:solidFill>
              </a:rPr>
              <a:t>02</a:t>
            </a:r>
            <a:endParaRPr sz="1125" b="1">
              <a:solidFill>
                <a:srgbClr val="8BB3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105150" y="365760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5F9FC"/>
                </a:solidFill>
              </a:defRPr>
            </a:pPr>
            <a:r>
              <a:rPr sz="1650" b="1">
                <a:solidFill>
                  <a:srgbClr val="F5F9FC"/>
                </a:solidFill>
              </a:rPr>
              <a:t>独立表</a:t>
            </a:r>
            <a:endParaRPr sz="1650" b="1">
              <a:solidFill>
                <a:srgbClr val="F5F9FC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105150" y="403860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单客户数据增长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105150" y="4381500"/>
            <a:ext cx="1543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8BB3FF"/>
                </a:solidFill>
              </a:defRPr>
            </a:pPr>
            <a:r>
              <a:rPr sz="1200" b="1">
                <a:solidFill>
                  <a:srgbClr val="8BB3FF"/>
                </a:solidFill>
              </a:rPr>
              <a:t>查询隔离</a:t>
            </a:r>
            <a:endParaRPr sz="1200" b="1">
              <a:solidFill>
                <a:srgbClr val="8BB3F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5133975" y="2933700"/>
            <a:ext cx="1876425" cy="1847850"/>
          </a:xfrm>
          <a:prstGeom prst="roundRect">
            <a:avLst>
              <a:gd name="adj" fmla="val 8247"/>
            </a:avLst>
          </a:prstGeom>
          <a:solidFill>
            <a:srgbClr val="0D2236"/>
          </a:solidFill>
          <a:ln w="19050">
            <a:solidFill>
              <a:srgbClr val="5FE0A1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305425" y="31051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FE0A1"/>
                </a:solidFill>
              </a:defRPr>
            </a:pPr>
            <a:r>
              <a:rPr sz="1125" b="1">
                <a:solidFill>
                  <a:srgbClr val="5FE0A1"/>
                </a:solidFill>
              </a:rPr>
              <a:t>03</a:t>
            </a:r>
            <a:endParaRPr sz="1125" b="1">
              <a:solidFill>
                <a:srgbClr val="5FE0A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305425" y="34480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5F9FC"/>
                </a:solidFill>
              </a:defRPr>
            </a:pPr>
            <a:r>
              <a:rPr sz="1650" b="1">
                <a:solidFill>
                  <a:srgbClr val="F5F9FC"/>
                </a:solidFill>
              </a:rPr>
              <a:t>独立 Schema</a:t>
            </a:r>
            <a:endParaRPr sz="1650" b="1">
              <a:solidFill>
                <a:srgbClr val="F5F9FC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305425" y="382905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结构差异客户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05425" y="4381500"/>
            <a:ext cx="1543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5FE0A1"/>
                </a:solidFill>
              </a:defRPr>
            </a:pPr>
            <a:r>
              <a:rPr sz="1200" b="1">
                <a:solidFill>
                  <a:srgbClr val="5FE0A1"/>
                </a:solidFill>
              </a:rPr>
              <a:t>权限隔离</a:t>
            </a:r>
            <a:endParaRPr sz="1200" b="1">
              <a:solidFill>
                <a:srgbClr val="5FE0A1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334250" y="2724150"/>
            <a:ext cx="1876425" cy="2057400"/>
          </a:xfrm>
          <a:prstGeom prst="roundRect">
            <a:avLst>
              <a:gd name="adj" fmla="val 8122"/>
            </a:avLst>
          </a:prstGeom>
          <a:solidFill>
            <a:srgbClr val="0D2236"/>
          </a:solidFill>
          <a:ln w="19050">
            <a:solidFill>
              <a:srgbClr val="FFB45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505700" y="289560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B45C"/>
                </a:solidFill>
              </a:defRPr>
            </a:pPr>
            <a:r>
              <a:rPr sz="1125" b="1">
                <a:solidFill>
                  <a:srgbClr val="FFB45C"/>
                </a:solidFill>
              </a:rPr>
              <a:t>04</a:t>
            </a:r>
            <a:endParaRPr sz="1125" b="1">
              <a:solidFill>
                <a:srgbClr val="FFB45C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505700" y="323850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5F9FC"/>
                </a:solidFill>
              </a:defRPr>
            </a:pPr>
            <a:r>
              <a:rPr sz="1650" b="1">
                <a:solidFill>
                  <a:srgbClr val="F5F9FC"/>
                </a:solidFill>
              </a:rPr>
              <a:t>独立数据库</a:t>
            </a:r>
            <a:endParaRPr sz="1650" b="1">
              <a:solidFill>
                <a:srgbClr val="F5F9FC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505700" y="361950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高合规客户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505700" y="4381500"/>
            <a:ext cx="1543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FB45C"/>
                </a:solidFill>
              </a:defRPr>
            </a:pPr>
            <a:r>
              <a:rPr sz="1200" b="1">
                <a:solidFill>
                  <a:srgbClr val="FFB45C"/>
                </a:solidFill>
              </a:rPr>
              <a:t>物理隔离</a:t>
            </a:r>
            <a:endParaRPr sz="1200" b="1">
              <a:solidFill>
                <a:srgbClr val="FFB45C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534525" y="2514600"/>
            <a:ext cx="1876425" cy="2266950"/>
          </a:xfrm>
          <a:prstGeom prst="roundRect">
            <a:avLst>
              <a:gd name="adj" fmla="val 8122"/>
            </a:avLst>
          </a:prstGeom>
          <a:solidFill>
            <a:srgbClr val="0D2236"/>
          </a:solidFill>
          <a:ln w="19050">
            <a:solidFill>
              <a:srgbClr val="FF718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705975" y="268605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7185"/>
                </a:solidFill>
              </a:defRPr>
            </a:pPr>
            <a:r>
              <a:rPr sz="1125" b="1">
                <a:solidFill>
                  <a:srgbClr val="FF7185"/>
                </a:solidFill>
              </a:rPr>
              <a:t>05</a:t>
            </a:r>
            <a:endParaRPr sz="1125" b="1">
              <a:solidFill>
                <a:srgbClr val="FF7185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705975" y="30289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5F9FC"/>
                </a:solidFill>
              </a:defRPr>
            </a:pPr>
            <a:r>
              <a:rPr sz="1650" b="1">
                <a:solidFill>
                  <a:srgbClr val="F5F9FC"/>
                </a:solidFill>
              </a:rPr>
              <a:t>混合模式</a:t>
            </a:r>
            <a:endParaRPr sz="1650" b="1">
              <a:solidFill>
                <a:srgbClr val="F5F9FC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705975" y="340995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普通 + 重点客户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705975" y="4381500"/>
            <a:ext cx="1543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F7185"/>
                </a:solidFill>
              </a:defRPr>
            </a:pPr>
            <a:r>
              <a:rPr sz="1200" b="1">
                <a:solidFill>
                  <a:srgbClr val="FF7185"/>
                </a:solidFill>
              </a:rPr>
              <a:t>按价值分层</a:t>
            </a:r>
            <a:endParaRPr sz="1200" b="1">
              <a:solidFill>
                <a:srgbClr val="FF7185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47725" y="52197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36D6C2"/>
                </a:solidFill>
              </a:defRPr>
            </a:pPr>
            <a:r>
              <a:rPr sz="1575" b="1">
                <a:solidFill>
                  <a:srgbClr val="36D6C2"/>
                </a:solidFill>
              </a:rPr>
              <a:t>可信身份</a:t>
            </a:r>
            <a:endParaRPr sz="1575" b="1">
              <a:solidFill>
                <a:srgbClr val="36D6C2"/>
              </a:solidFill>
            </a:endParaRPr>
          </a:p>
        </p:txBody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2305050" y="5362575"/>
            <a:ext cx="647700" cy="0"/>
          </a:xfrm>
          <a:prstGeom prst="line">
            <a:avLst/>
          </a:prstGeom>
          <a:noFill/>
          <a:ln w="28575">
            <a:solidFill>
              <a:srgbClr val="23445C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105150" y="5219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8BB3FF"/>
                </a:solidFill>
              </a:defRPr>
            </a:pPr>
            <a:r>
              <a:rPr sz="1575" b="1">
                <a:solidFill>
                  <a:srgbClr val="8BB3FF"/>
                </a:solidFill>
              </a:rPr>
              <a:t>令牌与租户交叉校验</a:t>
            </a:r>
            <a:endParaRPr sz="1575" b="1">
              <a:solidFill>
                <a:srgbClr val="8BB3FF"/>
              </a:solidFill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5467350" y="5362575"/>
            <a:ext cx="647700" cy="0"/>
          </a:xfrm>
          <a:prstGeom prst="line">
            <a:avLst/>
          </a:prstGeom>
          <a:noFill/>
          <a:ln w="28575">
            <a:solidFill>
              <a:srgbClr val="23445C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267450" y="5219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5FE0A1"/>
                </a:solidFill>
              </a:defRPr>
            </a:pPr>
            <a:r>
              <a:rPr sz="1575" b="1">
                <a:solidFill>
                  <a:srgbClr val="5FE0A1"/>
                </a:solidFill>
              </a:rPr>
              <a:t>事务中禁止切换租户</a:t>
            </a:r>
            <a:endParaRPr sz="1575" b="1">
              <a:solidFill>
                <a:srgbClr val="5FE0A1"/>
              </a:solidFill>
            </a:endParaRPr>
          </a:p>
        </p:txBody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8620125" y="5362575"/>
            <a:ext cx="647700" cy="0"/>
          </a:xfrm>
          <a:prstGeom prst="line">
            <a:avLst/>
          </a:prstGeom>
          <a:noFill/>
          <a:ln w="28575">
            <a:solidFill>
              <a:srgbClr val="23445C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410700" y="52197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FB45C"/>
                </a:solidFill>
              </a:defRPr>
            </a:pPr>
            <a:r>
              <a:rPr sz="1575" b="1">
                <a:solidFill>
                  <a:srgbClr val="FFB45C"/>
                </a:solidFill>
              </a:rPr>
              <a:t>缺失上下文默认拒绝</a:t>
            </a:r>
            <a:endParaRPr sz="1575" b="1">
              <a:solidFill>
                <a:srgbClr val="FFB45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矩形 45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性能治理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10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平台主动拦截那些“迟早会出事”的写法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10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438400" y="3000375"/>
            <a:ext cx="514350" cy="0"/>
          </a:xfrm>
          <a:prstGeom prst="line">
            <a:avLst/>
          </a:prstGeom>
          <a:noFill/>
          <a:ln w="38100">
            <a:solidFill>
              <a:srgbClr val="23445C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742950" y="2286000"/>
            <a:ext cx="1638300" cy="163830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36D6C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38250" y="2524125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  <a:endParaRPr sz="1125" b="1">
              <a:solidFill>
                <a:srgbClr val="36D6C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289560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5F9FC"/>
                </a:solidFill>
              </a:defRPr>
            </a:pPr>
            <a:r>
              <a:rPr sz="1650" b="1">
                <a:solidFill>
                  <a:srgbClr val="F5F9FC"/>
                </a:solidFill>
              </a:rPr>
              <a:t>本地热点</a:t>
            </a:r>
            <a:endParaRPr sz="1650" b="1">
              <a:solidFill>
                <a:srgbClr val="F5F9FC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" y="33147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D9E6EF"/>
                </a:solidFill>
              </a:defRPr>
            </a:pPr>
            <a:r>
              <a:rPr sz="1200" b="0">
                <a:solidFill>
                  <a:srgbClr val="D9E6EF"/>
                </a:solidFill>
              </a:rPr>
              <a:t>优先本机命中</a:t>
            </a:r>
            <a:endParaRPr sz="1200" b="0">
              <a:solidFill>
                <a:srgbClr val="D9E6EF"/>
              </a:solidFill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4676775" y="3000375"/>
            <a:ext cx="514350" cy="0"/>
          </a:xfrm>
          <a:prstGeom prst="line">
            <a:avLst/>
          </a:prstGeom>
          <a:noFill/>
          <a:ln w="38100">
            <a:solidFill>
              <a:srgbClr val="23445C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2981325" y="2286000"/>
            <a:ext cx="1638300" cy="163830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8BB3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476625" y="2524125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8BB3FF"/>
                </a:solidFill>
              </a:defRPr>
            </a:pPr>
            <a:r>
              <a:rPr sz="1125" b="1">
                <a:solidFill>
                  <a:srgbClr val="8BB3FF"/>
                </a:solidFill>
              </a:rPr>
              <a:t>02</a:t>
            </a:r>
            <a:endParaRPr sz="1125" b="1">
              <a:solidFill>
                <a:srgbClr val="8BB3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171825" y="289560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5F9FC"/>
                </a:solidFill>
              </a:defRPr>
            </a:pPr>
            <a:r>
              <a:rPr sz="1650" b="1">
                <a:solidFill>
                  <a:srgbClr val="F5F9FC"/>
                </a:solidFill>
              </a:rPr>
              <a:t>布隆预判</a:t>
            </a:r>
            <a:endParaRPr sz="1650" b="1">
              <a:solidFill>
                <a:srgbClr val="F5F9F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171825" y="33147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D9E6EF"/>
                </a:solidFill>
              </a:defRPr>
            </a:pPr>
            <a:r>
              <a:rPr sz="1200" b="0">
                <a:solidFill>
                  <a:srgbClr val="D9E6EF"/>
                </a:solidFill>
              </a:rPr>
              <a:t>拦截无效查询</a:t>
            </a:r>
            <a:endParaRPr sz="1200" b="0">
              <a:solidFill>
                <a:srgbClr val="D9E6EF"/>
              </a:solidFill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915150" y="3000375"/>
            <a:ext cx="514350" cy="0"/>
          </a:xfrm>
          <a:prstGeom prst="line">
            <a:avLst/>
          </a:prstGeom>
          <a:noFill/>
          <a:ln w="38100">
            <a:solidFill>
              <a:srgbClr val="23445C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5219700" y="2286000"/>
            <a:ext cx="1638300" cy="163830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5FE0A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715000" y="2524125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5FE0A1"/>
                </a:solidFill>
              </a:defRPr>
            </a:pPr>
            <a:r>
              <a:rPr sz="1125" b="1">
                <a:solidFill>
                  <a:srgbClr val="5FE0A1"/>
                </a:solidFill>
              </a:rPr>
              <a:t>03</a:t>
            </a:r>
            <a:endParaRPr sz="1125" b="1">
              <a:solidFill>
                <a:srgbClr val="5FE0A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410200" y="289560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5F9FC"/>
                </a:solidFill>
              </a:defRPr>
            </a:pPr>
            <a:r>
              <a:rPr sz="1650" b="1">
                <a:solidFill>
                  <a:srgbClr val="F5F9FC"/>
                </a:solidFill>
              </a:rPr>
              <a:t>Redis</a:t>
            </a:r>
            <a:endParaRPr sz="1650" b="1">
              <a:solidFill>
                <a:srgbClr val="F5F9FC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410200" y="33147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D9E6EF"/>
                </a:solidFill>
              </a:defRPr>
            </a:pPr>
            <a:r>
              <a:rPr sz="1200" b="0">
                <a:solidFill>
                  <a:srgbClr val="D9E6EF"/>
                </a:solidFill>
              </a:rPr>
              <a:t>共享高速访问</a:t>
            </a:r>
            <a:endParaRPr sz="1200" b="0">
              <a:solidFill>
                <a:srgbClr val="D9E6EF"/>
              </a:solidFill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53525" y="3000375"/>
            <a:ext cx="514350" cy="0"/>
          </a:xfrm>
          <a:prstGeom prst="line">
            <a:avLst/>
          </a:prstGeom>
          <a:noFill/>
          <a:ln w="38100">
            <a:solidFill>
              <a:srgbClr val="23445C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7458075" y="2286000"/>
            <a:ext cx="1638300" cy="163830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FFB45C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953375" y="2524125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FFB45C"/>
                </a:solidFill>
              </a:defRPr>
            </a:pPr>
            <a:r>
              <a:rPr sz="1125" b="1">
                <a:solidFill>
                  <a:srgbClr val="FFB45C"/>
                </a:solidFill>
              </a:rPr>
              <a:t>04</a:t>
            </a:r>
            <a:endParaRPr sz="1125" b="1">
              <a:solidFill>
                <a:srgbClr val="FFB45C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48575" y="289560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5F9FC"/>
                </a:solidFill>
              </a:defRPr>
            </a:pPr>
            <a:r>
              <a:rPr sz="1650" b="1">
                <a:solidFill>
                  <a:srgbClr val="F5F9FC"/>
                </a:solidFill>
              </a:rPr>
              <a:t>分布式锁</a:t>
            </a:r>
            <a:endParaRPr sz="1650" b="1">
              <a:solidFill>
                <a:srgbClr val="F5F9F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48575" y="33147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D9E6EF"/>
                </a:solidFill>
              </a:defRPr>
            </a:pPr>
            <a:r>
              <a:rPr sz="1200" b="0">
                <a:solidFill>
                  <a:srgbClr val="D9E6EF"/>
                </a:solidFill>
              </a:rPr>
              <a:t>单线程回源</a:t>
            </a:r>
            <a:endParaRPr sz="1200" b="0">
              <a:solidFill>
                <a:srgbClr val="D9E6EF"/>
              </a:solidFill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9696450" y="2286000"/>
            <a:ext cx="1638300" cy="163830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FF718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191750" y="2524125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FF7185"/>
                </a:solidFill>
              </a:defRPr>
            </a:pPr>
            <a:r>
              <a:rPr sz="1125" b="1">
                <a:solidFill>
                  <a:srgbClr val="FF7185"/>
                </a:solidFill>
              </a:rPr>
              <a:t>05</a:t>
            </a:r>
            <a:endParaRPr sz="1125" b="1">
              <a:solidFill>
                <a:srgbClr val="FF7185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886950" y="289560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5F9FC"/>
                </a:solidFill>
              </a:defRPr>
            </a:pPr>
            <a:r>
              <a:rPr sz="1650" b="1">
                <a:solidFill>
                  <a:srgbClr val="F5F9FC"/>
                </a:solidFill>
              </a:rPr>
              <a:t>数据库</a:t>
            </a:r>
            <a:endParaRPr sz="1650" b="1">
              <a:solidFill>
                <a:srgbClr val="F5F9FC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886950" y="33147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D9E6EF"/>
                </a:solidFill>
              </a:defRPr>
            </a:pPr>
            <a:r>
              <a:rPr sz="1200" b="0">
                <a:solidFill>
                  <a:srgbClr val="D9E6EF"/>
                </a:solidFill>
              </a:rPr>
              <a:t>受控访问</a:t>
            </a:r>
            <a:endParaRPr sz="1200" b="0">
              <a:solidFill>
                <a:srgbClr val="D9E6E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46101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8BB3FF"/>
                </a:solidFill>
              </a:defRPr>
            </a:pPr>
            <a:r>
              <a:rPr sz="1500" b="1">
                <a:solidFill>
                  <a:srgbClr val="8BB3FF"/>
                </a:solidFill>
              </a:rPr>
              <a:t>慢调用</a:t>
            </a:r>
            <a:endParaRPr sz="1500" b="1">
              <a:solidFill>
                <a:srgbClr val="8BB3FF"/>
              </a:solidFill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162050" y="5010150"/>
            <a:ext cx="1238250" cy="0"/>
          </a:xfrm>
          <a:prstGeom prst="line">
            <a:avLst/>
          </a:prstGeom>
          <a:noFill/>
          <a:ln w="19050">
            <a:solidFill>
              <a:srgbClr val="23445C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76300" y="5162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EA8BA"/>
                </a:solidFill>
              </a:defRPr>
            </a:pPr>
            <a:r>
              <a:rPr sz="1125" b="0">
                <a:solidFill>
                  <a:srgbClr val="8EA8BA"/>
                </a:solidFill>
              </a:rPr>
              <a:t>可告警 / 可阻断</a:t>
            </a:r>
            <a:endParaRPr sz="1125" b="0">
              <a:solidFill>
                <a:srgbClr val="8EA8BA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971800" y="46101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8BB3FF"/>
                </a:solidFill>
              </a:defRPr>
            </a:pPr>
            <a:r>
              <a:rPr sz="1500" b="1">
                <a:solidFill>
                  <a:srgbClr val="8BB3FF"/>
                </a:solidFill>
              </a:rPr>
              <a:t>高复杂度操作</a:t>
            </a:r>
            <a:endParaRPr sz="1500" b="1">
              <a:solidFill>
                <a:srgbClr val="8BB3FF"/>
              </a:solidFill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3257550" y="5010150"/>
            <a:ext cx="1238250" cy="0"/>
          </a:xfrm>
          <a:prstGeom prst="line">
            <a:avLst/>
          </a:prstGeom>
          <a:noFill/>
          <a:ln w="19050">
            <a:solidFill>
              <a:srgbClr val="23445C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2971800" y="5162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EA8BA"/>
                </a:solidFill>
              </a:defRPr>
            </a:pPr>
            <a:r>
              <a:rPr sz="1125" b="0">
                <a:solidFill>
                  <a:srgbClr val="8EA8BA"/>
                </a:solidFill>
              </a:rPr>
              <a:t>可告警 / 可阻断</a:t>
            </a:r>
            <a:endParaRPr sz="1125" b="0">
              <a:solidFill>
                <a:srgbClr val="8EA8BA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067300" y="46101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8BB3FF"/>
                </a:solidFill>
              </a:defRPr>
            </a:pPr>
            <a:r>
              <a:rPr sz="1500" b="1">
                <a:solidFill>
                  <a:srgbClr val="8BB3FF"/>
                </a:solidFill>
              </a:rPr>
              <a:t>BIGKEY</a:t>
            </a:r>
            <a:endParaRPr sz="1500" b="1">
              <a:solidFill>
                <a:srgbClr val="8BB3FF"/>
              </a:solidFill>
            </a:endParaRPr>
          </a:p>
        </p:txBody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5353050" y="5010150"/>
            <a:ext cx="1238250" cy="0"/>
          </a:xfrm>
          <a:prstGeom prst="line">
            <a:avLst/>
          </a:prstGeom>
          <a:noFill/>
          <a:ln w="19050">
            <a:solidFill>
              <a:srgbClr val="23445C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067300" y="5162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EA8BA"/>
                </a:solidFill>
              </a:defRPr>
            </a:pPr>
            <a:r>
              <a:rPr sz="1125" b="0">
                <a:solidFill>
                  <a:srgbClr val="8EA8BA"/>
                </a:solidFill>
              </a:rPr>
              <a:t>提前识别 / 容量治理</a:t>
            </a:r>
            <a:endParaRPr sz="1125" b="0">
              <a:solidFill>
                <a:srgbClr val="8EA8BA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162800" y="46101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8BB3FF"/>
                </a:solidFill>
              </a:defRPr>
            </a:pPr>
            <a:r>
              <a:rPr sz="1500" b="1">
                <a:solidFill>
                  <a:srgbClr val="8BB3FF"/>
                </a:solidFill>
              </a:rPr>
              <a:t>超大载荷</a:t>
            </a:r>
            <a:endParaRPr sz="1500" b="1">
              <a:solidFill>
                <a:srgbClr val="8BB3FF"/>
              </a:solidFill>
            </a:endParaRP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7448550" y="5010150"/>
            <a:ext cx="1238250" cy="0"/>
          </a:xfrm>
          <a:prstGeom prst="line">
            <a:avLst/>
          </a:prstGeom>
          <a:noFill/>
          <a:ln w="19050">
            <a:solidFill>
              <a:srgbClr val="23445C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162800" y="5162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EA8BA"/>
                </a:solidFill>
              </a:defRPr>
            </a:pPr>
            <a:r>
              <a:rPr sz="1125" b="0">
                <a:solidFill>
                  <a:srgbClr val="8EA8BA"/>
                </a:solidFill>
              </a:rPr>
              <a:t>提前识别 / 容量治理</a:t>
            </a:r>
            <a:endParaRPr sz="1125" b="0">
              <a:solidFill>
                <a:srgbClr val="8EA8BA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258300" y="46101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B45C"/>
                </a:solidFill>
              </a:defRPr>
            </a:pPr>
            <a:r>
              <a:rPr sz="1500" b="1">
                <a:solidFill>
                  <a:srgbClr val="FFB45C"/>
                </a:solidFill>
              </a:rPr>
              <a:t>无界数据结构</a:t>
            </a:r>
            <a:endParaRPr sz="1500" b="1">
              <a:solidFill>
                <a:srgbClr val="FFB45C"/>
              </a:solidFill>
            </a:endParaRPr>
          </a:p>
        </p:txBody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9544050" y="5010150"/>
            <a:ext cx="1238250" cy="0"/>
          </a:xfrm>
          <a:prstGeom prst="line">
            <a:avLst/>
          </a:prstGeom>
          <a:noFill/>
          <a:ln w="19050">
            <a:solidFill>
              <a:srgbClr val="23445C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258300" y="5162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EA8BA"/>
                </a:solidFill>
              </a:defRPr>
            </a:pPr>
            <a:r>
              <a:rPr sz="1125" b="0">
                <a:solidFill>
                  <a:srgbClr val="8EA8BA"/>
                </a:solidFill>
              </a:rPr>
              <a:t>提前识别 / 容量治理</a:t>
            </a:r>
            <a:endParaRPr sz="1125" b="0">
              <a:solidFill>
                <a:srgbClr val="8EA8B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可靠异步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11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可靠消息要能处理重复、失败与恢复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11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876550" y="3429000"/>
            <a:ext cx="476250" cy="0"/>
          </a:xfrm>
          <a:prstGeom prst="line">
            <a:avLst/>
          </a:prstGeom>
          <a:noFill/>
          <a:ln w="38100">
            <a:solidFill>
              <a:srgbClr val="23445C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762250"/>
            <a:ext cx="2000250" cy="1333500"/>
          </a:xfrm>
          <a:prstGeom prst="roundRect">
            <a:avLst>
              <a:gd name="adj" fmla="val 12857"/>
            </a:avLst>
          </a:prstGeom>
          <a:solidFill>
            <a:srgbClr val="0D2236"/>
          </a:solidFill>
          <a:ln w="19050">
            <a:solidFill>
              <a:srgbClr val="36D6C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29337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  <a:endParaRPr sz="1125" b="1">
              <a:solidFill>
                <a:srgbClr val="36D6C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3238500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5F9FC"/>
                </a:solidFill>
              </a:defRPr>
            </a:pPr>
            <a:r>
              <a:rPr sz="1725" b="1">
                <a:solidFill>
                  <a:srgbClr val="F5F9FC"/>
                </a:solidFill>
              </a:rPr>
              <a:t>业务事件</a:t>
            </a:r>
            <a:endParaRPr sz="1725" b="1">
              <a:solidFill>
                <a:srgbClr val="F5F9FC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36385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订单 / 支付 / 通知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5372100" y="3429000"/>
            <a:ext cx="476250" cy="0"/>
          </a:xfrm>
          <a:prstGeom prst="line">
            <a:avLst/>
          </a:prstGeom>
          <a:noFill/>
          <a:ln w="38100">
            <a:solidFill>
              <a:srgbClr val="23445C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3371850" y="2762250"/>
            <a:ext cx="2000250" cy="1333500"/>
          </a:xfrm>
          <a:prstGeom prst="roundRect">
            <a:avLst>
              <a:gd name="adj" fmla="val 12857"/>
            </a:avLst>
          </a:prstGeom>
          <a:solidFill>
            <a:srgbClr val="0D2236"/>
          </a:solidFill>
          <a:ln w="19050">
            <a:solidFill>
              <a:srgbClr val="8BB3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543300" y="29337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8BB3FF"/>
                </a:solidFill>
              </a:defRPr>
            </a:pPr>
            <a:r>
              <a:rPr sz="1125" b="1">
                <a:solidFill>
                  <a:srgbClr val="8BB3FF"/>
                </a:solidFill>
              </a:rPr>
              <a:t>02</a:t>
            </a:r>
            <a:endParaRPr sz="1125" b="1">
              <a:solidFill>
                <a:srgbClr val="8BB3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543300" y="3238500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5F9FC"/>
                </a:solidFill>
              </a:defRPr>
            </a:pPr>
            <a:r>
              <a:rPr sz="1725" b="1">
                <a:solidFill>
                  <a:srgbClr val="F5F9FC"/>
                </a:solidFill>
              </a:rPr>
              <a:t>统一消息层</a:t>
            </a:r>
            <a:endParaRPr sz="1725" b="1">
              <a:solidFill>
                <a:srgbClr val="F5F9F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43300" y="36385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多 MQ / 云消息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7867650" y="3429000"/>
            <a:ext cx="476250" cy="0"/>
          </a:xfrm>
          <a:prstGeom prst="line">
            <a:avLst/>
          </a:prstGeom>
          <a:noFill/>
          <a:ln w="38100">
            <a:solidFill>
              <a:srgbClr val="23445C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5867400" y="2762250"/>
            <a:ext cx="2000250" cy="1333500"/>
          </a:xfrm>
          <a:prstGeom prst="roundRect">
            <a:avLst>
              <a:gd name="adj" fmla="val 12857"/>
            </a:avLst>
          </a:prstGeom>
          <a:solidFill>
            <a:srgbClr val="0D2236"/>
          </a:solidFill>
          <a:ln w="19050">
            <a:solidFill>
              <a:srgbClr val="5FE0A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038850" y="29337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FE0A1"/>
                </a:solidFill>
              </a:defRPr>
            </a:pPr>
            <a:r>
              <a:rPr sz="1125" b="1">
                <a:solidFill>
                  <a:srgbClr val="5FE0A1"/>
                </a:solidFill>
              </a:rPr>
              <a:t>03</a:t>
            </a:r>
            <a:endParaRPr sz="1125" b="1">
              <a:solidFill>
                <a:srgbClr val="5FE0A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38850" y="3238500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5F9FC"/>
                </a:solidFill>
              </a:defRPr>
            </a:pPr>
            <a:r>
              <a:rPr sz="1725" b="1">
                <a:solidFill>
                  <a:srgbClr val="F5F9FC"/>
                </a:solidFill>
              </a:rPr>
              <a:t>可靠性机制</a:t>
            </a:r>
            <a:endParaRPr sz="1725" b="1">
              <a:solidFill>
                <a:srgbClr val="F5F9FC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38850" y="36385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幂等 / 重试 / 死信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362950" y="2762250"/>
            <a:ext cx="2000250" cy="1333500"/>
          </a:xfrm>
          <a:prstGeom prst="roundRect">
            <a:avLst>
              <a:gd name="adj" fmla="val 12857"/>
            </a:avLst>
          </a:prstGeom>
          <a:solidFill>
            <a:srgbClr val="0D2236"/>
          </a:solidFill>
          <a:ln w="19050">
            <a:solidFill>
              <a:srgbClr val="FFB45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534400" y="293370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B45C"/>
                </a:solidFill>
              </a:defRPr>
            </a:pPr>
            <a:r>
              <a:rPr sz="1125" b="1">
                <a:solidFill>
                  <a:srgbClr val="FFB45C"/>
                </a:solidFill>
              </a:rPr>
              <a:t>04</a:t>
            </a:r>
            <a:endParaRPr sz="1125" b="1">
              <a:solidFill>
                <a:srgbClr val="FFB45C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34400" y="3238500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5F9FC"/>
                </a:solidFill>
              </a:defRPr>
            </a:pPr>
            <a:r>
              <a:rPr sz="1725" b="1">
                <a:solidFill>
                  <a:srgbClr val="F5F9FC"/>
                </a:solidFill>
              </a:rPr>
              <a:t>弹性消费</a:t>
            </a:r>
            <a:endParaRPr sz="1725" b="1">
              <a:solidFill>
                <a:srgbClr val="F5F9FC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534400" y="36385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多实例并行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28700" y="47053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36D6C2"/>
                </a:solidFill>
              </a:defRPr>
            </a:pPr>
            <a:r>
              <a:rPr sz="1575" b="1">
                <a:solidFill>
                  <a:srgbClr val="36D6C2"/>
                </a:solidFill>
              </a:rPr>
              <a:t>重复不会重复执行</a:t>
            </a:r>
            <a:endParaRPr sz="1575" b="1">
              <a:solidFill>
                <a:srgbClr val="36D6C2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733800" y="47053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8BB3FF"/>
                </a:solidFill>
              </a:defRPr>
            </a:pPr>
            <a:r>
              <a:rPr sz="1575" b="1">
                <a:solidFill>
                  <a:srgbClr val="8BB3FF"/>
                </a:solidFill>
              </a:rPr>
              <a:t>失败不会静默丢失</a:t>
            </a:r>
            <a:endParaRPr sz="1575" b="1">
              <a:solidFill>
                <a:srgbClr val="8BB3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438900" y="47053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5FE0A1"/>
                </a:solidFill>
              </a:defRPr>
            </a:pPr>
            <a:r>
              <a:rPr sz="1575" b="1">
                <a:solidFill>
                  <a:srgbClr val="5FE0A1"/>
                </a:solidFill>
              </a:rPr>
              <a:t>退出后可以恢复</a:t>
            </a:r>
            <a:endParaRPr sz="1575" b="1">
              <a:solidFill>
                <a:srgbClr val="5FE0A1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144000" y="47053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FB45C"/>
                </a:solidFill>
              </a:defRPr>
            </a:pPr>
            <a:r>
              <a:rPr sz="1575" b="1">
                <a:solidFill>
                  <a:srgbClr val="FFB45C"/>
                </a:solidFill>
              </a:rPr>
              <a:t>增加实例即可扩容</a:t>
            </a:r>
            <a:endParaRPr sz="1575" b="1">
              <a:solidFill>
                <a:srgbClr val="FFB45C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95350" y="5391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业务高峰被削平，故障任务有去处，处理能力可横向扩展。</a:t>
            </a:r>
            <a:endParaRPr sz="1800" b="1">
              <a:solidFill>
                <a:srgbClr val="F5F9F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复杂流程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12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订单、支付、物流和审批，成为可管理的规则资产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12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457450" y="2809875"/>
            <a:ext cx="809625" cy="0"/>
          </a:xfrm>
          <a:prstGeom prst="line">
            <a:avLst/>
          </a:prstGeom>
          <a:noFill/>
          <a:ln w="47625">
            <a:solidFill>
              <a:srgbClr val="23445C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838200" y="2000250"/>
            <a:ext cx="1619250" cy="161925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8EA8B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52550" y="2333625"/>
            <a:ext cx="590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8EA8BA"/>
                </a:solidFill>
              </a:defRPr>
            </a:pPr>
            <a:r>
              <a:rPr sz="1125" b="1">
                <a:solidFill>
                  <a:srgbClr val="8EA8BA"/>
                </a:solidFill>
              </a:rPr>
              <a:t>01</a:t>
            </a:r>
            <a:endParaRPr sz="1125" b="1">
              <a:solidFill>
                <a:srgbClr val="8EA8B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277177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F5F9FC"/>
                </a:solidFill>
              </a:defRPr>
            </a:pPr>
            <a:r>
              <a:rPr sz="1725" b="1">
                <a:solidFill>
                  <a:srgbClr val="F5F9FC"/>
                </a:solidFill>
              </a:rPr>
              <a:t>待确认</a:t>
            </a:r>
            <a:endParaRPr sz="1725" b="1">
              <a:solidFill>
                <a:srgbClr val="F5F9FC"/>
              </a:solidFill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4933950" y="2809875"/>
            <a:ext cx="809625" cy="0"/>
          </a:xfrm>
          <a:prstGeom prst="line">
            <a:avLst/>
          </a:prstGeom>
          <a:noFill/>
          <a:ln w="47625">
            <a:solidFill>
              <a:srgbClr val="23445C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3314700" y="2000250"/>
            <a:ext cx="1619250" cy="161925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8BB3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829050" y="2333625"/>
            <a:ext cx="590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8BB3FF"/>
                </a:solidFill>
              </a:defRPr>
            </a:pPr>
            <a:r>
              <a:rPr sz="1125" b="1">
                <a:solidFill>
                  <a:srgbClr val="8BB3FF"/>
                </a:solidFill>
              </a:rPr>
              <a:t>02</a:t>
            </a:r>
            <a:endParaRPr sz="1125" b="1">
              <a:solidFill>
                <a:srgbClr val="8BB3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505200" y="277177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F5F9FC"/>
                </a:solidFill>
              </a:defRPr>
            </a:pPr>
            <a:r>
              <a:rPr sz="1725" b="1">
                <a:solidFill>
                  <a:srgbClr val="F5F9FC"/>
                </a:solidFill>
              </a:rPr>
              <a:t>已确认</a:t>
            </a:r>
            <a:endParaRPr sz="1725" b="1">
              <a:solidFill>
                <a:srgbClr val="F5F9FC"/>
              </a:solidFill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7410450" y="2809875"/>
            <a:ext cx="809625" cy="0"/>
          </a:xfrm>
          <a:prstGeom prst="line">
            <a:avLst/>
          </a:prstGeom>
          <a:noFill/>
          <a:ln w="47625">
            <a:solidFill>
              <a:srgbClr val="23445C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5791200" y="2000250"/>
            <a:ext cx="1619250" cy="161925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36D6C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305550" y="2333625"/>
            <a:ext cx="590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  <a:endParaRPr sz="1125" b="1">
              <a:solidFill>
                <a:srgbClr val="36D6C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981700" y="277177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F5F9FC"/>
                </a:solidFill>
              </a:defRPr>
            </a:pPr>
            <a:r>
              <a:rPr sz="1725" b="1">
                <a:solidFill>
                  <a:srgbClr val="F5F9FC"/>
                </a:solidFill>
              </a:rPr>
              <a:t>处理中</a:t>
            </a:r>
            <a:endParaRPr sz="1725" b="1">
              <a:solidFill>
                <a:srgbClr val="F5F9FC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8267700" y="2000250"/>
            <a:ext cx="1619250" cy="161925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5FE0A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782050" y="2333625"/>
            <a:ext cx="590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5FE0A1"/>
                </a:solidFill>
              </a:defRPr>
            </a:pPr>
            <a:r>
              <a:rPr sz="1125" b="1">
                <a:solidFill>
                  <a:srgbClr val="5FE0A1"/>
                </a:solidFill>
              </a:rPr>
              <a:t>04</a:t>
            </a:r>
            <a:endParaRPr sz="1125" b="1">
              <a:solidFill>
                <a:srgbClr val="5FE0A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458200" y="277177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F5F9FC"/>
                </a:solidFill>
              </a:defRPr>
            </a:pPr>
            <a:r>
              <a:rPr sz="1725" b="1">
                <a:solidFill>
                  <a:srgbClr val="F5F9FC"/>
                </a:solidFill>
              </a:rPr>
              <a:t>已完成</a:t>
            </a:r>
            <a:endParaRPr sz="1725" b="1">
              <a:solidFill>
                <a:srgbClr val="F5F9FC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8200" y="42291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36D6C2"/>
                </a:solidFill>
              </a:defRPr>
            </a:pPr>
            <a:r>
              <a:rPr sz="1575" b="1">
                <a:solidFill>
                  <a:srgbClr val="36D6C2"/>
                </a:solidFill>
              </a:rPr>
              <a:t>合法转换</a:t>
            </a:r>
            <a:endParaRPr sz="1575" b="1">
              <a:solidFill>
                <a:srgbClr val="36D6C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38200" y="4619625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非法跳转统一拒绝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86150" y="42291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36D6C2"/>
                </a:solidFill>
              </a:defRPr>
            </a:pPr>
            <a:r>
              <a:rPr sz="1575" b="1">
                <a:solidFill>
                  <a:srgbClr val="36D6C2"/>
                </a:solidFill>
              </a:rPr>
              <a:t>自动留痕</a:t>
            </a:r>
            <a:endParaRPr sz="1575" b="1">
              <a:solidFill>
                <a:srgbClr val="36D6C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486150" y="4619625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每次状态变化可追溯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134100" y="42291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36D6C2"/>
                </a:solidFill>
              </a:defRPr>
            </a:pPr>
            <a:r>
              <a:rPr sz="1575" b="1">
                <a:solidFill>
                  <a:srgbClr val="36D6C2"/>
                </a:solidFill>
              </a:rPr>
              <a:t>终态保护</a:t>
            </a:r>
            <a:endParaRPr sz="1575" b="1">
              <a:solidFill>
                <a:srgbClr val="36D6C2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34100" y="4619625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关键终态默认不可修改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82050" y="42291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FB45C"/>
                </a:solidFill>
              </a:defRPr>
            </a:pPr>
            <a:r>
              <a:rPr sz="1575" b="1">
                <a:solidFill>
                  <a:srgbClr val="FFB45C"/>
                </a:solidFill>
              </a:rPr>
              <a:t>分级一致性</a:t>
            </a:r>
            <a:endParaRPr sz="1575" b="1">
              <a:solidFill>
                <a:srgbClr val="FFB45C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782050" y="4619625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普通状态高性能，关键状态强一致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8200" y="5410200"/>
            <a:ext cx="1051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业务规则从散落代码，变成可读、可测、可审计的企业资产。</a:t>
            </a:r>
            <a:endParaRPr sz="1800" b="1">
              <a:solidFill>
                <a:srgbClr val="F5F9FC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安全体系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13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安全从身份延伸到数据、文件和 AI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13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1790700"/>
            <a:ext cx="10744200" cy="476250"/>
          </a:xfrm>
          <a:prstGeom prst="roundRect">
            <a:avLst>
              <a:gd name="adj" fmla="val 20000"/>
            </a:avLst>
          </a:prstGeom>
          <a:solidFill>
            <a:srgbClr val="0D2236"/>
          </a:solidFill>
          <a:ln w="9525">
            <a:solidFill>
              <a:srgbClr val="36D6C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189547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6D6C2"/>
                </a:solidFill>
              </a:defRPr>
            </a:pPr>
            <a:r>
              <a:rPr sz="1350" b="1">
                <a:solidFill>
                  <a:srgbClr val="36D6C2"/>
                </a:solidFill>
              </a:rPr>
              <a:t>身份</a:t>
            </a:r>
            <a:endParaRPr sz="1350" b="1">
              <a:solidFill>
                <a:srgbClr val="36D6C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790700" y="1885950"/>
            <a:ext cx="948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6EF"/>
                </a:solidFill>
              </a:defRPr>
            </a:pPr>
            <a:r>
              <a:rPr sz="1350" b="0">
                <a:solidFill>
                  <a:srgbClr val="D9E6EF"/>
                </a:solidFill>
              </a:rPr>
              <a:t>OAuth · MFA · 撤销 · 防重放</a:t>
            </a:r>
            <a:endParaRPr sz="1350" b="0">
              <a:solidFill>
                <a:srgbClr val="D9E6E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90600" y="2409825"/>
            <a:ext cx="10210800" cy="476250"/>
          </a:xfrm>
          <a:prstGeom prst="roundRect">
            <a:avLst>
              <a:gd name="adj" fmla="val 20000"/>
            </a:avLst>
          </a:prstGeom>
          <a:solidFill>
            <a:srgbClr val="102A40"/>
          </a:solidFill>
          <a:ln w="9525">
            <a:solidFill>
              <a:srgbClr val="8BB3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" y="25146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8BB3FF"/>
                </a:solidFill>
              </a:defRPr>
            </a:pPr>
            <a:r>
              <a:rPr sz="1350" b="1">
                <a:solidFill>
                  <a:srgbClr val="8BB3FF"/>
                </a:solidFill>
              </a:rPr>
              <a:t>租户</a:t>
            </a:r>
            <a:endParaRPr sz="1350" b="1">
              <a:solidFill>
                <a:srgbClr val="8BB3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57400" y="2505075"/>
            <a:ext cx="895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6EF"/>
                </a:solidFill>
              </a:defRPr>
            </a:pPr>
            <a:r>
              <a:rPr sz="1350" b="0">
                <a:solidFill>
                  <a:srgbClr val="D9E6EF"/>
                </a:solidFill>
              </a:rPr>
              <a:t>可信断言 · 交叉校验 · 默认拒绝</a:t>
            </a:r>
            <a:endParaRPr sz="1350" b="0">
              <a:solidFill>
                <a:srgbClr val="D9E6E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257300" y="3028950"/>
            <a:ext cx="9677400" cy="476250"/>
          </a:xfrm>
          <a:prstGeom prst="roundRect">
            <a:avLst>
              <a:gd name="adj" fmla="val 20000"/>
            </a:avLst>
          </a:prstGeom>
          <a:solidFill>
            <a:srgbClr val="0D2236"/>
          </a:solidFill>
          <a:ln w="9525">
            <a:solidFill>
              <a:srgbClr val="5FE0A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409700" y="313372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FE0A1"/>
                </a:solidFill>
              </a:defRPr>
            </a:pPr>
            <a:r>
              <a:rPr sz="1350" b="1">
                <a:solidFill>
                  <a:srgbClr val="5FE0A1"/>
                </a:solidFill>
              </a:rPr>
              <a:t>接口</a:t>
            </a:r>
            <a:endParaRPr sz="1350" b="1">
              <a:solidFill>
                <a:srgbClr val="5FE0A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324100" y="3124200"/>
            <a:ext cx="842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6EF"/>
                </a:solidFill>
              </a:defRPr>
            </a:pPr>
            <a:r>
              <a:rPr sz="1350" b="0">
                <a:solidFill>
                  <a:srgbClr val="D9E6EF"/>
                </a:solidFill>
              </a:rPr>
              <a:t>签名 · 防重 · 异常检测 · 审计</a:t>
            </a:r>
            <a:endParaRPr sz="1350" b="0">
              <a:solidFill>
                <a:srgbClr val="D9E6E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524000" y="3648075"/>
            <a:ext cx="9144000" cy="476250"/>
          </a:xfrm>
          <a:prstGeom prst="roundRect">
            <a:avLst>
              <a:gd name="adj" fmla="val 20000"/>
            </a:avLst>
          </a:prstGeom>
          <a:solidFill>
            <a:srgbClr val="102A40"/>
          </a:solidFill>
          <a:ln w="9525">
            <a:solidFill>
              <a:srgbClr val="FFB45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676400" y="37528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FB45C"/>
                </a:solidFill>
              </a:defRPr>
            </a:pPr>
            <a:r>
              <a:rPr sz="1350" b="1">
                <a:solidFill>
                  <a:srgbClr val="FFB45C"/>
                </a:solidFill>
              </a:rPr>
              <a:t>数据</a:t>
            </a:r>
            <a:endParaRPr sz="1350" b="1">
              <a:solidFill>
                <a:srgbClr val="FFB45C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590800" y="3743325"/>
            <a:ext cx="788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6EF"/>
                </a:solidFill>
              </a:defRPr>
            </a:pPr>
            <a:r>
              <a:rPr sz="1350" b="0">
                <a:solidFill>
                  <a:srgbClr val="D9E6EF"/>
                </a:solidFill>
              </a:rPr>
              <a:t>API · 日志 · 异常 · 审计统一脱敏</a:t>
            </a:r>
            <a:endParaRPr sz="1350" b="0">
              <a:solidFill>
                <a:srgbClr val="D9E6E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790700" y="4267200"/>
            <a:ext cx="8610600" cy="476250"/>
          </a:xfrm>
          <a:prstGeom prst="roundRect">
            <a:avLst>
              <a:gd name="adj" fmla="val 20000"/>
            </a:avLst>
          </a:prstGeom>
          <a:solidFill>
            <a:srgbClr val="0D2236"/>
          </a:solidFill>
          <a:ln w="9525">
            <a:solidFill>
              <a:srgbClr val="FF718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943100" y="437197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F7185"/>
                </a:solidFill>
              </a:defRPr>
            </a:pPr>
            <a:r>
              <a:rPr sz="1350" b="1">
                <a:solidFill>
                  <a:srgbClr val="FF7185"/>
                </a:solidFill>
              </a:rPr>
              <a:t>文件</a:t>
            </a:r>
            <a:endParaRPr sz="1350" b="1">
              <a:solidFill>
                <a:srgbClr val="FF718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857500" y="4362450"/>
            <a:ext cx="7353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6EF"/>
                </a:solidFill>
              </a:defRPr>
            </a:pPr>
            <a:r>
              <a:rPr sz="1350" b="0">
                <a:solidFill>
                  <a:srgbClr val="D9E6EF"/>
                </a:solidFill>
              </a:rPr>
              <a:t>来源限制 · 病毒扫描 CLEAN 才放行</a:t>
            </a:r>
            <a:endParaRPr sz="1350" b="0">
              <a:solidFill>
                <a:srgbClr val="D9E6EF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2057400" y="4886325"/>
            <a:ext cx="8077200" cy="476250"/>
          </a:xfrm>
          <a:prstGeom prst="roundRect">
            <a:avLst>
              <a:gd name="adj" fmla="val 20000"/>
            </a:avLst>
          </a:prstGeom>
          <a:solidFill>
            <a:srgbClr val="102A40"/>
          </a:solidFill>
          <a:ln w="9525">
            <a:solidFill>
              <a:srgbClr val="74E8D9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209800" y="49911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74E8D9"/>
                </a:solidFill>
              </a:defRPr>
            </a:pPr>
            <a:r>
              <a:rPr sz="1350" b="1">
                <a:solidFill>
                  <a:srgbClr val="74E8D9"/>
                </a:solidFill>
              </a:rPr>
              <a:t>AI</a:t>
            </a:r>
            <a:endParaRPr sz="1350" b="1">
              <a:solidFill>
                <a:srgbClr val="74E8D9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124200" y="4981575"/>
            <a:ext cx="681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6EF"/>
                </a:solidFill>
              </a:defRPr>
            </a:pPr>
            <a:r>
              <a:rPr sz="1350" b="0">
                <a:solidFill>
                  <a:srgbClr val="D9E6EF"/>
                </a:solidFill>
              </a:rPr>
              <a:t>URL 防内网探测 · 检索权限前置</a:t>
            </a:r>
            <a:endParaRPr sz="1350" b="0">
              <a:solidFill>
                <a:srgbClr val="D9E6E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43000" y="565785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安全要求由平台统一执行，降低项目差异和人员疏漏带来的风险。</a:t>
            </a:r>
            <a:endParaRPr sz="1800" b="1">
              <a:solidFill>
                <a:srgbClr val="F5F9FC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矩形 39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文件与文档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14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从上传到可用知识，走同一条安全流水线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14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1885950" y="3038475"/>
            <a:ext cx="342900" cy="0"/>
          </a:xfrm>
          <a:prstGeom prst="line">
            <a:avLst/>
          </a:prstGeom>
          <a:noFill/>
          <a:ln w="28575">
            <a:solidFill>
              <a:srgbClr val="23445C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685800" y="2409825"/>
            <a:ext cx="1200150" cy="120015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8EA8B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6574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5F9FC"/>
                </a:solidFill>
              </a:defRPr>
            </a:pPr>
            <a:r>
              <a:rPr sz="1575" b="1">
                <a:solidFill>
                  <a:srgbClr val="F5F9FC"/>
                </a:solidFill>
              </a:rPr>
              <a:t>上传</a:t>
            </a:r>
            <a:endParaRPr sz="1575" b="1">
              <a:solidFill>
                <a:srgbClr val="F5F9F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3105150"/>
            <a:ext cx="104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EA8BA"/>
                </a:solidFill>
              </a:defRPr>
            </a:pPr>
            <a:r>
              <a:rPr sz="1125" b="0">
                <a:solidFill>
                  <a:srgbClr val="8EA8BA"/>
                </a:solidFill>
              </a:rPr>
              <a:t>文件进入</a:t>
            </a:r>
            <a:endParaRPr sz="1125" b="0">
              <a:solidFill>
                <a:srgbClr val="8EA8BA"/>
              </a:solidFill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3448050" y="3038475"/>
            <a:ext cx="342900" cy="0"/>
          </a:xfrm>
          <a:prstGeom prst="line">
            <a:avLst/>
          </a:prstGeom>
          <a:noFill/>
          <a:ln w="28575">
            <a:solidFill>
              <a:srgbClr val="23445C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2247900" y="2409825"/>
            <a:ext cx="1200150" cy="120015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FF718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419350" y="26574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5F9FC"/>
                </a:solidFill>
              </a:defRPr>
            </a:pPr>
            <a:r>
              <a:rPr sz="1575" b="1">
                <a:solidFill>
                  <a:srgbClr val="F5F9FC"/>
                </a:solidFill>
              </a:rPr>
              <a:t>扫描</a:t>
            </a:r>
            <a:endParaRPr sz="1575" b="1">
              <a:solidFill>
                <a:srgbClr val="F5F9F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324100" y="3105150"/>
            <a:ext cx="104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FF7185"/>
                </a:solidFill>
              </a:defRPr>
            </a:pPr>
            <a:r>
              <a:rPr sz="1125" b="0">
                <a:solidFill>
                  <a:srgbClr val="FF7185"/>
                </a:solidFill>
              </a:rPr>
              <a:t>明确 CLEAN</a:t>
            </a:r>
            <a:endParaRPr sz="1125" b="0">
              <a:solidFill>
                <a:srgbClr val="FF7185"/>
              </a:solidFill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010150" y="3038475"/>
            <a:ext cx="342900" cy="0"/>
          </a:xfrm>
          <a:prstGeom prst="line">
            <a:avLst/>
          </a:prstGeom>
          <a:noFill/>
          <a:ln w="28575">
            <a:solidFill>
              <a:srgbClr val="23445C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3810000" y="2409825"/>
            <a:ext cx="1200150" cy="120015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8BB3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981450" y="26574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5F9FC"/>
                </a:solidFill>
              </a:defRPr>
            </a:pPr>
            <a:r>
              <a:rPr sz="1575" b="1">
                <a:solidFill>
                  <a:srgbClr val="F5F9FC"/>
                </a:solidFill>
              </a:rPr>
              <a:t>存储</a:t>
            </a:r>
            <a:endParaRPr sz="1575" b="1">
              <a:solidFill>
                <a:srgbClr val="F5F9FC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886200" y="3105150"/>
            <a:ext cx="104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8BB3FF"/>
                </a:solidFill>
              </a:defRPr>
            </a:pPr>
            <a:r>
              <a:rPr sz="1125" b="0">
                <a:solidFill>
                  <a:srgbClr val="8BB3FF"/>
                </a:solidFill>
              </a:rPr>
              <a:t>多云 / 私有化</a:t>
            </a:r>
            <a:endParaRPr sz="1125" b="0">
              <a:solidFill>
                <a:srgbClr val="8BB3FF"/>
              </a:solidFill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6572250" y="3038475"/>
            <a:ext cx="342900" cy="0"/>
          </a:xfrm>
          <a:prstGeom prst="line">
            <a:avLst/>
          </a:prstGeom>
          <a:noFill/>
          <a:ln w="28575">
            <a:solidFill>
              <a:srgbClr val="23445C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5372100" y="2409825"/>
            <a:ext cx="1200150" cy="120015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36D6C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543550" y="26574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5F9FC"/>
                </a:solidFill>
              </a:defRPr>
            </a:pPr>
            <a:r>
              <a:rPr sz="1575" b="1">
                <a:solidFill>
                  <a:srgbClr val="F5F9FC"/>
                </a:solidFill>
              </a:rPr>
              <a:t>解析</a:t>
            </a:r>
            <a:endParaRPr sz="1575" b="1">
              <a:solidFill>
                <a:srgbClr val="F5F9FC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448300" y="3105150"/>
            <a:ext cx="104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36D6C2"/>
                </a:solidFill>
              </a:defRPr>
            </a:pPr>
            <a:r>
              <a:rPr sz="1125" b="0">
                <a:solidFill>
                  <a:srgbClr val="36D6C2"/>
                </a:solidFill>
              </a:rPr>
              <a:t>PDF / Office / ODF</a:t>
            </a:r>
            <a:endParaRPr sz="1125" b="0">
              <a:solidFill>
                <a:srgbClr val="36D6C2"/>
              </a:solidFill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8134350" y="3038475"/>
            <a:ext cx="342900" cy="0"/>
          </a:xfrm>
          <a:prstGeom prst="line">
            <a:avLst/>
          </a:prstGeom>
          <a:noFill/>
          <a:ln w="28575">
            <a:solidFill>
              <a:srgbClr val="23445C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6934200" y="2409825"/>
            <a:ext cx="1200150" cy="120015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5FE0A1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105650" y="26574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5F9FC"/>
                </a:solidFill>
              </a:defRPr>
            </a:pPr>
            <a:r>
              <a:rPr sz="1575" b="1">
                <a:solidFill>
                  <a:srgbClr val="F5F9FC"/>
                </a:solidFill>
              </a:rPr>
              <a:t>OCR</a:t>
            </a:r>
            <a:endParaRPr sz="1575" b="1">
              <a:solidFill>
                <a:srgbClr val="F5F9F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010400" y="3105150"/>
            <a:ext cx="104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5FE0A1"/>
                </a:solidFill>
              </a:defRPr>
            </a:pPr>
            <a:r>
              <a:rPr sz="1125" b="0">
                <a:solidFill>
                  <a:srgbClr val="5FE0A1"/>
                </a:solidFill>
              </a:rPr>
              <a:t>图片与扫描件</a:t>
            </a:r>
            <a:endParaRPr sz="1125" b="0">
              <a:solidFill>
                <a:srgbClr val="5FE0A1"/>
              </a:solidFill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9696450" y="3038475"/>
            <a:ext cx="342900" cy="0"/>
          </a:xfrm>
          <a:prstGeom prst="line">
            <a:avLst/>
          </a:prstGeom>
          <a:noFill/>
          <a:ln w="28575">
            <a:solidFill>
              <a:srgbClr val="23445C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8496300" y="2409825"/>
            <a:ext cx="1200150" cy="120015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FFB45C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667750" y="26574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5F9FC"/>
                </a:solidFill>
              </a:defRPr>
            </a:pPr>
            <a:r>
              <a:rPr sz="1575" b="1">
                <a:solidFill>
                  <a:srgbClr val="F5F9FC"/>
                </a:solidFill>
              </a:rPr>
              <a:t>切片</a:t>
            </a:r>
            <a:endParaRPr sz="1575" b="1">
              <a:solidFill>
                <a:srgbClr val="F5F9FC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572500" y="3105150"/>
            <a:ext cx="104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FFB45C"/>
                </a:solidFill>
              </a:defRPr>
            </a:pPr>
            <a:r>
              <a:rPr sz="1125" b="0">
                <a:solidFill>
                  <a:srgbClr val="FFB45C"/>
                </a:solidFill>
              </a:rPr>
              <a:t>结构与定位</a:t>
            </a:r>
            <a:endParaRPr sz="1125" b="0">
              <a:solidFill>
                <a:srgbClr val="FFB45C"/>
              </a:solidFill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10058400" y="2409825"/>
            <a:ext cx="1200150" cy="1200150"/>
          </a:xfrm>
          <a:prstGeom prst="ellipse">
            <a:avLst/>
          </a:prstGeom>
          <a:solidFill>
            <a:srgbClr val="0D2236"/>
          </a:solidFill>
          <a:ln w="28575">
            <a:solidFill>
              <a:srgbClr val="74E8D9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0229850" y="26574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5F9FC"/>
                </a:solidFill>
              </a:defRPr>
            </a:pPr>
            <a:r>
              <a:rPr sz="1575" b="1">
                <a:solidFill>
                  <a:srgbClr val="F5F9FC"/>
                </a:solidFill>
              </a:rPr>
              <a:t>检索</a:t>
            </a:r>
            <a:endParaRPr sz="1575" b="1">
              <a:solidFill>
                <a:srgbClr val="F5F9FC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134600" y="3105150"/>
            <a:ext cx="104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74E8D9"/>
                </a:solidFill>
              </a:defRPr>
            </a:pPr>
            <a:r>
              <a:rPr sz="1125" b="0">
                <a:solidFill>
                  <a:srgbClr val="74E8D9"/>
                </a:solidFill>
              </a:rPr>
              <a:t>权限前置</a:t>
            </a:r>
            <a:endParaRPr sz="1125" b="0">
              <a:solidFill>
                <a:srgbClr val="74E8D9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76300" y="429577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FF7185"/>
                </a:solidFill>
              </a:defRPr>
            </a:pPr>
            <a:r>
              <a:rPr sz="1650" b="1">
                <a:solidFill>
                  <a:srgbClr val="FF7185"/>
                </a:solidFill>
              </a:rPr>
              <a:t>扫描失败 ≠ 安全</a:t>
            </a:r>
            <a:endParaRPr sz="1650" b="1">
              <a:solidFill>
                <a:srgbClr val="FF7185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76300" y="4695825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未得到可信结论，文件保持不可访问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495800" y="429577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大型文件 ≠ 全量入内存</a:t>
            </a:r>
            <a:endParaRPr sz="1650" b="1">
              <a:solidFill>
                <a:srgbClr val="36D6C2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495800" y="4695825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大型表格流式解析，降低内存风险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115300" y="429577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36D6C2"/>
                </a:solidFill>
              </a:defRPr>
            </a:pPr>
            <a:r>
              <a:rPr sz="1650" b="1">
                <a:solidFill>
                  <a:srgbClr val="36D6C2"/>
                </a:solidFill>
              </a:rPr>
              <a:t>远程地址 ≠ 任意访问</a:t>
            </a:r>
            <a:endParaRPr sz="1650" b="1">
              <a:solidFill>
                <a:srgbClr val="36D6C2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115300" y="4695825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限制内网地址、跨主机重定向和内容类型</a:t>
            </a:r>
            <a:endParaRPr sz="1275" b="0">
              <a:solidFill>
                <a:srgbClr val="D9E6E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智能化扩展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15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企业 AI 的核心，是可治理的数据与权限底座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15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295400" y="1752600"/>
            <a:ext cx="9601200" cy="609600"/>
          </a:xfrm>
          <a:prstGeom prst="roundRect">
            <a:avLst>
              <a:gd name="adj" fmla="val 21875"/>
            </a:avLst>
          </a:prstGeom>
          <a:solidFill>
            <a:srgbClr val="0D2236"/>
          </a:solidFill>
          <a:ln w="19050">
            <a:solidFill>
              <a:srgbClr val="F5F9FC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466850" y="189547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5F9FC"/>
                </a:solidFill>
              </a:defRPr>
            </a:pPr>
            <a:r>
              <a:rPr sz="1575" b="1">
                <a:solidFill>
                  <a:srgbClr val="F5F9FC"/>
                </a:solidFill>
              </a:rPr>
              <a:t>业务应用</a:t>
            </a:r>
            <a:endParaRPr sz="1575" b="1">
              <a:solidFill>
                <a:srgbClr val="F5F9FC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676650" y="1895475"/>
            <a:ext cx="7029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0">
                <a:solidFill>
                  <a:srgbClr val="D9E6EF"/>
                </a:solidFill>
              </a:defRPr>
            </a:pPr>
            <a:r>
              <a:rPr sz="1350" b="0">
                <a:solidFill>
                  <a:srgbClr val="D9E6EF"/>
                </a:solidFill>
              </a:rPr>
              <a:t>智能客服 · 知识助手 · 文档分析</a:t>
            </a:r>
            <a:endParaRPr sz="1350" b="0">
              <a:solidFill>
                <a:srgbClr val="D9E6E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657350" y="2533650"/>
            <a:ext cx="8877300" cy="609600"/>
          </a:xfrm>
          <a:prstGeom prst="roundRect">
            <a:avLst>
              <a:gd name="adj" fmla="val 21875"/>
            </a:avLst>
          </a:prstGeom>
          <a:solidFill>
            <a:srgbClr val="0D2236"/>
          </a:solidFill>
          <a:ln w="19050">
            <a:solidFill>
              <a:srgbClr val="FFB45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828800" y="26765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FB45C"/>
                </a:solidFill>
              </a:defRPr>
            </a:pPr>
            <a:r>
              <a:rPr sz="1575" b="1">
                <a:solidFill>
                  <a:srgbClr val="FFB45C"/>
                </a:solidFill>
              </a:rPr>
              <a:t>统一模型层</a:t>
            </a:r>
            <a:endParaRPr sz="1575" b="1">
              <a:solidFill>
                <a:srgbClr val="FFB45C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38600" y="2676525"/>
            <a:ext cx="6305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0">
                <a:solidFill>
                  <a:srgbClr val="D9E6EF"/>
                </a:solidFill>
              </a:defRPr>
            </a:pPr>
            <a:r>
              <a:rPr sz="1350" b="0">
                <a:solidFill>
                  <a:srgbClr val="D9E6EF"/>
                </a:solidFill>
              </a:rPr>
              <a:t>多模型路由 · 动态切换 · Embedding</a:t>
            </a:r>
            <a:endParaRPr sz="1350" b="0">
              <a:solidFill>
                <a:srgbClr val="D9E6E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019300" y="3314700"/>
            <a:ext cx="8153400" cy="609600"/>
          </a:xfrm>
          <a:prstGeom prst="roundRect">
            <a:avLst>
              <a:gd name="adj" fmla="val 21875"/>
            </a:avLst>
          </a:prstGeom>
          <a:solidFill>
            <a:srgbClr val="0D2236"/>
          </a:solidFill>
          <a:ln w="19050">
            <a:solidFill>
              <a:srgbClr val="36D6C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190750" y="345757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36D6C2"/>
                </a:solidFill>
              </a:defRPr>
            </a:pPr>
            <a:r>
              <a:rPr sz="1575" b="1">
                <a:solidFill>
                  <a:srgbClr val="36D6C2"/>
                </a:solidFill>
              </a:rPr>
              <a:t>知识工程层</a:t>
            </a:r>
            <a:endParaRPr sz="1575" b="1">
              <a:solidFill>
                <a:srgbClr val="36D6C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3457575"/>
            <a:ext cx="558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0">
                <a:solidFill>
                  <a:srgbClr val="D9E6EF"/>
                </a:solidFill>
              </a:defRPr>
            </a:pPr>
            <a:r>
              <a:rPr sz="1350" b="0">
                <a:solidFill>
                  <a:srgbClr val="D9E6EF"/>
                </a:solidFill>
              </a:rPr>
              <a:t>解析 · OCR · 切片 · 版本投影</a:t>
            </a:r>
            <a:endParaRPr sz="1350" b="0">
              <a:solidFill>
                <a:srgbClr val="D9E6E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2381250" y="4095750"/>
            <a:ext cx="7429500" cy="609600"/>
          </a:xfrm>
          <a:prstGeom prst="roundRect">
            <a:avLst>
              <a:gd name="adj" fmla="val 21875"/>
            </a:avLst>
          </a:prstGeom>
          <a:solidFill>
            <a:srgbClr val="0D2236"/>
          </a:solidFill>
          <a:ln w="19050">
            <a:solidFill>
              <a:srgbClr val="8BB3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552700" y="42386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8BB3FF"/>
                </a:solidFill>
              </a:defRPr>
            </a:pPr>
            <a:r>
              <a:rPr sz="1575" b="1">
                <a:solidFill>
                  <a:srgbClr val="8BB3FF"/>
                </a:solidFill>
              </a:rPr>
              <a:t>安全检索层</a:t>
            </a:r>
            <a:endParaRPr sz="1575" b="1">
              <a:solidFill>
                <a:srgbClr val="8BB3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762500" y="4238625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0">
                <a:solidFill>
                  <a:srgbClr val="D9E6EF"/>
                </a:solidFill>
              </a:defRPr>
            </a:pPr>
            <a:r>
              <a:rPr sz="1350" b="0">
                <a:solidFill>
                  <a:srgbClr val="D9E6EF"/>
                </a:solidFill>
              </a:rPr>
              <a:t>租户 · 知识库 · 可见性在召回阶段过滤</a:t>
            </a:r>
            <a:endParaRPr sz="1350" b="0">
              <a:solidFill>
                <a:srgbClr val="D9E6E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743200" y="4876800"/>
            <a:ext cx="6705600" cy="609600"/>
          </a:xfrm>
          <a:prstGeom prst="roundRect">
            <a:avLst>
              <a:gd name="adj" fmla="val 21875"/>
            </a:avLst>
          </a:prstGeom>
          <a:solidFill>
            <a:srgbClr val="0D2236"/>
          </a:solidFill>
          <a:ln w="19050">
            <a:solidFill>
              <a:srgbClr val="5FE0A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914650" y="501967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5FE0A1"/>
                </a:solidFill>
              </a:defRPr>
            </a:pPr>
            <a:r>
              <a:rPr sz="1575" b="1">
                <a:solidFill>
                  <a:srgbClr val="5FE0A1"/>
                </a:solidFill>
              </a:rPr>
              <a:t>多 Provider 数据面</a:t>
            </a:r>
            <a:endParaRPr sz="1575" b="1">
              <a:solidFill>
                <a:srgbClr val="5FE0A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24450" y="5019675"/>
            <a:ext cx="413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0">
                <a:solidFill>
                  <a:srgbClr val="D9E6EF"/>
                </a:solidFill>
              </a:defRPr>
            </a:pPr>
            <a:r>
              <a:rPr sz="1350" b="0">
                <a:solidFill>
                  <a:srgbClr val="D9E6EF"/>
                </a:solidFill>
              </a:rPr>
              <a:t>Milvus · Qdrant · PostgreSQL · Redis · ...</a:t>
            </a:r>
            <a:endParaRPr sz="1350" b="0">
              <a:solidFill>
                <a:srgbClr val="D9E6E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33450" y="563880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5F9FC"/>
                </a:solidFill>
              </a:defRPr>
            </a:pPr>
            <a:r>
              <a:rPr sz="1725" b="1">
                <a:solidFill>
                  <a:srgbClr val="F5F9FC"/>
                </a:solidFill>
              </a:rPr>
              <a:t>企业知识、权限与业务流程始终掌握在自己手里。</a:t>
            </a:r>
            <a:endParaRPr sz="1725" b="1">
              <a:solidFill>
                <a:srgbClr val="F5F9FC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382000" y="5600700"/>
            <a:ext cx="2686050" cy="552450"/>
          </a:xfrm>
          <a:prstGeom prst="roundRect">
            <a:avLst>
              <a:gd name="adj" fmla="val 20690"/>
            </a:avLst>
          </a:prstGeom>
          <a:solidFill>
            <a:srgbClr val="091A2B"/>
          </a:solidFill>
          <a:ln w="9525">
            <a:solidFill>
              <a:srgbClr val="FFB45C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524875" y="5743575"/>
            <a:ext cx="2400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FFB45C"/>
                </a:solidFill>
              </a:defRPr>
            </a:pPr>
            <a:r>
              <a:rPr sz="1125" b="1">
                <a:solidFill>
                  <a:srgbClr val="FFB45C"/>
                </a:solidFill>
              </a:rPr>
              <a:t>MCP：已具备首版能力 · 正在完成生产验收</a:t>
            </a:r>
            <a:endParaRPr sz="1125" b="1">
              <a:solidFill>
                <a:srgbClr val="FFB45C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多云与私有化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16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基础设施可以变化，业务主流程不随之重写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16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57250" y="2095500"/>
            <a:ext cx="3028950" cy="2857500"/>
          </a:xfrm>
          <a:prstGeom prst="roundRect">
            <a:avLst>
              <a:gd name="adj" fmla="val 6667"/>
            </a:avLst>
          </a:prstGeom>
          <a:solidFill>
            <a:srgbClr val="0D2236"/>
          </a:solidFill>
          <a:ln w="19050">
            <a:solidFill>
              <a:srgbClr val="36D6C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81100" y="244792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F5F9FC"/>
                </a:solidFill>
              </a:defRPr>
            </a:pPr>
            <a:r>
              <a:rPr sz="2100" b="1">
                <a:solidFill>
                  <a:srgbClr val="F5F9FC"/>
                </a:solidFill>
              </a:rPr>
              <a:t>企业业务接口</a:t>
            </a:r>
            <a:endParaRPr sz="2100" b="1">
              <a:solidFill>
                <a:srgbClr val="F5F9FC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3038475"/>
            <a:ext cx="2533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D9E6EF"/>
                </a:solidFill>
              </a:defRPr>
            </a:pPr>
            <a:r>
              <a:rPr sz="1425" b="0">
                <a:solidFill>
                  <a:srgbClr val="D9E6EF"/>
                </a:solidFill>
              </a:rPr>
              <a:t>存储 · 消息 · 向量 · OCR · AI</a:t>
            </a:r>
            <a:endParaRPr sz="1425" b="0">
              <a:solidFill>
                <a:srgbClr val="D9E6E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14450" y="40386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稳定不变</a:t>
            </a:r>
            <a:endParaRPr sz="1725" b="1">
              <a:solidFill>
                <a:srgbClr val="36D6C2"/>
              </a:solidFill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3886200" y="3524250"/>
            <a:ext cx="1428750" cy="0"/>
          </a:xfrm>
          <a:prstGeom prst="line">
            <a:avLst/>
          </a:prstGeom>
          <a:noFill/>
          <a:ln w="47625">
            <a:solidFill>
              <a:srgbClr val="23445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076700" y="31432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8EA8BA"/>
                </a:solidFill>
              </a:defRPr>
            </a:pPr>
            <a:r>
              <a:rPr sz="1350" b="1">
                <a:solidFill>
                  <a:srgbClr val="8EA8BA"/>
                </a:solidFill>
              </a:rPr>
              <a:t>统一适配层</a:t>
            </a:r>
            <a:endParaRPr sz="1350" b="1">
              <a:solidFill>
                <a:srgbClr val="8EA8BA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657850" y="1924050"/>
            <a:ext cx="2514600" cy="1333500"/>
          </a:xfrm>
          <a:prstGeom prst="roundRect">
            <a:avLst>
              <a:gd name="adj" fmla="val 11429"/>
            </a:avLst>
          </a:prstGeom>
          <a:solidFill>
            <a:srgbClr val="102A40"/>
          </a:solidFill>
          <a:ln w="19050">
            <a:solidFill>
              <a:srgbClr val="8BB3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848350" y="213360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8BB3FF"/>
                </a:solidFill>
              </a:defRPr>
            </a:pPr>
            <a:r>
              <a:rPr sz="1725" b="1">
                <a:solidFill>
                  <a:srgbClr val="8BB3FF"/>
                </a:solidFill>
              </a:rPr>
              <a:t>公有云</a:t>
            </a:r>
            <a:endParaRPr sz="1725" b="1">
              <a:solidFill>
                <a:srgbClr val="8BB3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848350" y="259080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多家云存储与消息服务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515350" y="1924050"/>
            <a:ext cx="2514600" cy="1333500"/>
          </a:xfrm>
          <a:prstGeom prst="roundRect">
            <a:avLst>
              <a:gd name="adj" fmla="val 11429"/>
            </a:avLst>
          </a:prstGeom>
          <a:solidFill>
            <a:srgbClr val="102A40"/>
          </a:solidFill>
          <a:ln w="19050">
            <a:solidFill>
              <a:srgbClr val="36D6C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705850" y="213360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36D6C2"/>
                </a:solidFill>
              </a:defRPr>
            </a:pPr>
            <a:r>
              <a:rPr sz="1725" b="1">
                <a:solidFill>
                  <a:srgbClr val="36D6C2"/>
                </a:solidFill>
              </a:rPr>
              <a:t>专有云</a:t>
            </a:r>
            <a:endParaRPr sz="1725" b="1">
              <a:solidFill>
                <a:srgbClr val="36D6C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05850" y="259080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MinIO · 私有 MQ · 自建数据库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657850" y="3581400"/>
            <a:ext cx="2514600" cy="1333500"/>
          </a:xfrm>
          <a:prstGeom prst="roundRect">
            <a:avLst>
              <a:gd name="adj" fmla="val 11429"/>
            </a:avLst>
          </a:prstGeom>
          <a:solidFill>
            <a:srgbClr val="102A40"/>
          </a:solidFill>
          <a:ln w="19050">
            <a:solidFill>
              <a:srgbClr val="5FE0A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848350" y="379095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5FE0A1"/>
                </a:solidFill>
              </a:defRPr>
            </a:pPr>
            <a:r>
              <a:rPr sz="1725" b="1">
                <a:solidFill>
                  <a:srgbClr val="5FE0A1"/>
                </a:solidFill>
              </a:rPr>
              <a:t>离线部署</a:t>
            </a:r>
            <a:endParaRPr sz="1725" b="1">
              <a:solidFill>
                <a:srgbClr val="5FE0A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848350" y="424815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本地存储 · 内网服务 · 私有模型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515350" y="3581400"/>
            <a:ext cx="2514600" cy="1333500"/>
          </a:xfrm>
          <a:prstGeom prst="roundRect">
            <a:avLst>
              <a:gd name="adj" fmla="val 11429"/>
            </a:avLst>
          </a:prstGeom>
          <a:solidFill>
            <a:srgbClr val="102A40"/>
          </a:solidFill>
          <a:ln w="19050">
            <a:solidFill>
              <a:srgbClr val="FFB45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705850" y="379095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FB45C"/>
                </a:solidFill>
              </a:defRPr>
            </a:pPr>
            <a:r>
              <a:rPr sz="1725" b="1">
                <a:solidFill>
                  <a:srgbClr val="FFB45C"/>
                </a:solidFill>
              </a:rPr>
              <a:t>混合架构</a:t>
            </a:r>
            <a:endParaRPr sz="1725" b="1">
              <a:solidFill>
                <a:srgbClr val="FFB45C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05850" y="424815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ECS · Kubernetes · 多区域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428750" y="54673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5F9FC"/>
                </a:solidFill>
              </a:defRPr>
            </a:pPr>
            <a:r>
              <a:rPr sz="1875" b="1">
                <a:solidFill>
                  <a:srgbClr val="F5F9FC"/>
                </a:solidFill>
              </a:rPr>
              <a:t>满足私有化、国产化、成本优化与合规要求。</a:t>
            </a:r>
            <a:endParaRPr sz="1875" b="1">
              <a:solidFill>
                <a:srgbClr val="F5F9FC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2026 增强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17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今年完成的不是换版本，而是平台能力的系统升级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17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1981200"/>
            <a:ext cx="1866900" cy="2971800"/>
          </a:xfrm>
          <a:prstGeom prst="roundRect">
            <a:avLst>
              <a:gd name="adj" fmla="val 9184"/>
            </a:avLst>
          </a:prstGeom>
          <a:solidFill>
            <a:srgbClr val="0D2236"/>
          </a:solidFill>
          <a:ln w="19050">
            <a:solidFill>
              <a:srgbClr val="36D6C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1717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  <a:endParaRPr sz="1125" b="1">
              <a:solidFill>
                <a:srgbClr val="36D6C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260985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5F9FC"/>
                </a:solidFill>
              </a:defRPr>
            </a:pPr>
            <a:r>
              <a:rPr sz="2100" b="1">
                <a:solidFill>
                  <a:srgbClr val="F5F9FC"/>
                </a:solidFill>
              </a:rPr>
              <a:t>性能</a:t>
            </a:r>
            <a:endParaRPr sz="2100" b="1">
              <a:solidFill>
                <a:srgbClr val="F5F9FC"/>
              </a:solidFill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95350" y="3143250"/>
            <a:ext cx="1524000" cy="0"/>
          </a:xfrm>
          <a:prstGeom prst="line">
            <a:avLst/>
          </a:prstGeom>
          <a:noFill/>
          <a:ln w="28575">
            <a:solidFill>
              <a:srgbClr val="36D6C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3409950"/>
            <a:ext cx="152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热点缓存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复杂度守卫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结构化并发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2905125" y="2305050"/>
            <a:ext cx="1866900" cy="2971800"/>
          </a:xfrm>
          <a:prstGeom prst="roundRect">
            <a:avLst>
              <a:gd name="adj" fmla="val 9184"/>
            </a:avLst>
          </a:prstGeom>
          <a:solidFill>
            <a:srgbClr val="0D2236"/>
          </a:solidFill>
          <a:ln w="19050">
            <a:solidFill>
              <a:srgbClr val="8BB3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076575" y="24955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8BB3FF"/>
                </a:solidFill>
              </a:defRPr>
            </a:pPr>
            <a:r>
              <a:rPr sz="1125" b="1">
                <a:solidFill>
                  <a:srgbClr val="8BB3FF"/>
                </a:solidFill>
              </a:rPr>
              <a:t>02</a:t>
            </a:r>
            <a:endParaRPr sz="1125" b="1">
              <a:solidFill>
                <a:srgbClr val="8BB3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076575" y="293370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5F9FC"/>
                </a:solidFill>
              </a:defRPr>
            </a:pPr>
            <a:r>
              <a:rPr sz="2100" b="1">
                <a:solidFill>
                  <a:srgbClr val="F5F9FC"/>
                </a:solidFill>
              </a:rPr>
              <a:t>稳定</a:t>
            </a:r>
            <a:endParaRPr sz="2100" b="1">
              <a:solidFill>
                <a:srgbClr val="F5F9FC"/>
              </a:solidFill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3076575" y="3467100"/>
            <a:ext cx="1524000" cy="0"/>
          </a:xfrm>
          <a:prstGeom prst="line">
            <a:avLst/>
          </a:prstGeom>
          <a:noFill/>
          <a:ln w="28575">
            <a:solidFill>
              <a:srgbClr val="8BB3F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076575" y="3733800"/>
            <a:ext cx="152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限流熔断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请求追踪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消息恢复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5086350" y="1981200"/>
            <a:ext cx="1866900" cy="2971800"/>
          </a:xfrm>
          <a:prstGeom prst="roundRect">
            <a:avLst>
              <a:gd name="adj" fmla="val 9184"/>
            </a:avLst>
          </a:prstGeom>
          <a:solidFill>
            <a:srgbClr val="0D2236"/>
          </a:solidFill>
          <a:ln w="19050">
            <a:solidFill>
              <a:srgbClr val="FF718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257800" y="21717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7185"/>
                </a:solidFill>
              </a:defRPr>
            </a:pPr>
            <a:r>
              <a:rPr sz="1125" b="1">
                <a:solidFill>
                  <a:srgbClr val="FF7185"/>
                </a:solidFill>
              </a:rPr>
              <a:t>03</a:t>
            </a:r>
            <a:endParaRPr sz="1125" b="1">
              <a:solidFill>
                <a:srgbClr val="FF718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257800" y="260985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5F9FC"/>
                </a:solidFill>
              </a:defRPr>
            </a:pPr>
            <a:r>
              <a:rPr sz="2100" b="1">
                <a:solidFill>
                  <a:srgbClr val="F5F9FC"/>
                </a:solidFill>
              </a:rPr>
              <a:t>安全</a:t>
            </a:r>
            <a:endParaRPr sz="2100" b="1">
              <a:solidFill>
                <a:srgbClr val="F5F9FC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5257800" y="3143250"/>
            <a:ext cx="1524000" cy="0"/>
          </a:xfrm>
          <a:prstGeom prst="line">
            <a:avLst/>
          </a:prstGeom>
          <a:noFill/>
          <a:ln w="28575">
            <a:solidFill>
              <a:srgbClr val="FF718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257800" y="3409950"/>
            <a:ext cx="152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租户默认拒绝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SSRF 防护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病毒扫描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267575" y="2305050"/>
            <a:ext cx="1866900" cy="2971800"/>
          </a:xfrm>
          <a:prstGeom prst="roundRect">
            <a:avLst>
              <a:gd name="adj" fmla="val 9184"/>
            </a:avLst>
          </a:prstGeom>
          <a:solidFill>
            <a:srgbClr val="0D2236"/>
          </a:solidFill>
          <a:ln w="19050">
            <a:solidFill>
              <a:srgbClr val="5FE0A1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39025" y="24955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FE0A1"/>
                </a:solidFill>
              </a:defRPr>
            </a:pPr>
            <a:r>
              <a:rPr sz="1125" b="1">
                <a:solidFill>
                  <a:srgbClr val="5FE0A1"/>
                </a:solidFill>
              </a:rPr>
              <a:t>04</a:t>
            </a:r>
            <a:endParaRPr sz="1125" b="1">
              <a:solidFill>
                <a:srgbClr val="5FE0A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39025" y="293370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5F9FC"/>
                </a:solidFill>
              </a:defRPr>
            </a:pPr>
            <a:r>
              <a:rPr sz="2100" b="1">
                <a:solidFill>
                  <a:srgbClr val="F5F9FC"/>
                </a:solidFill>
              </a:rPr>
              <a:t>云原生</a:t>
            </a:r>
            <a:endParaRPr sz="2100" b="1">
              <a:solidFill>
                <a:srgbClr val="F5F9FC"/>
              </a:solidFill>
            </a:endParaRP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7439025" y="3467100"/>
            <a:ext cx="1524000" cy="0"/>
          </a:xfrm>
          <a:prstGeom prst="line">
            <a:avLst/>
          </a:prstGeom>
          <a:noFill/>
          <a:ln w="28575">
            <a:solidFill>
              <a:srgbClr val="5FE0A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439025" y="3733800"/>
            <a:ext cx="152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JDK 25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Spring Boot 4.x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K8s / Jib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448800" y="1981200"/>
            <a:ext cx="1866900" cy="2971800"/>
          </a:xfrm>
          <a:prstGeom prst="roundRect">
            <a:avLst>
              <a:gd name="adj" fmla="val 9184"/>
            </a:avLst>
          </a:prstGeom>
          <a:solidFill>
            <a:srgbClr val="0D2236"/>
          </a:solidFill>
          <a:ln w="19050">
            <a:solidFill>
              <a:srgbClr val="FFB45C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620250" y="21717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B45C"/>
                </a:solidFill>
              </a:defRPr>
            </a:pPr>
            <a:r>
              <a:rPr sz="1125" b="1">
                <a:solidFill>
                  <a:srgbClr val="FFB45C"/>
                </a:solidFill>
              </a:rPr>
              <a:t>05</a:t>
            </a:r>
            <a:endParaRPr sz="1125" b="1">
              <a:solidFill>
                <a:srgbClr val="FFB45C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20250" y="260985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F5F9FC"/>
                </a:solidFill>
              </a:defRPr>
            </a:pPr>
            <a:r>
              <a:rPr sz="2100" b="1">
                <a:solidFill>
                  <a:srgbClr val="F5F9FC"/>
                </a:solidFill>
              </a:rPr>
              <a:t>智能化</a:t>
            </a:r>
            <a:endParaRPr sz="2100" b="1">
              <a:solidFill>
                <a:srgbClr val="F5F9FC"/>
              </a:solidFill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9620250" y="3143250"/>
            <a:ext cx="1524000" cy="0"/>
          </a:xfrm>
          <a:prstGeom prst="line">
            <a:avLst/>
          </a:prstGeom>
          <a:noFill/>
          <a:ln w="28575">
            <a:solidFill>
              <a:srgbClr val="FFB45C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620250" y="3409950"/>
            <a:ext cx="152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文档 · OCR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向量 · AI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MCP 首版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57250" y="561975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F5F9FC"/>
                </a:solidFill>
              </a:defRPr>
            </a:pPr>
            <a:r>
              <a:rPr sz="1725" b="1">
                <a:solidFill>
                  <a:srgbClr val="F5F9FC"/>
                </a:solidFill>
              </a:rPr>
              <a:t>性能、稳定、安全、云原生与智能化五条主线同步推进。</a:t>
            </a:r>
            <a:endParaRPr sz="1725" b="1">
              <a:solidFill>
                <a:srgbClr val="F5F9FC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应用场景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18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一套底座，覆盖五类企业数字化场景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18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23900" y="1885950"/>
            <a:ext cx="1866900" cy="3238500"/>
          </a:xfrm>
          <a:prstGeom prst="roundRect">
            <a:avLst>
              <a:gd name="adj" fmla="val 9184"/>
            </a:avLst>
          </a:prstGeom>
          <a:solidFill>
            <a:srgbClr val="0D2236"/>
          </a:solidFill>
          <a:ln w="19050">
            <a:solidFill>
              <a:srgbClr val="36D6C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20764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  <a:endParaRPr sz="1125" b="1">
              <a:solidFill>
                <a:srgbClr val="36D6C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2533650"/>
            <a:ext cx="152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025" b="1">
                <a:solidFill>
                  <a:srgbClr val="F5F9FC"/>
                </a:solidFill>
              </a:defRPr>
            </a:pPr>
            <a:r>
              <a:rPr sz="2025" b="1">
                <a:solidFill>
                  <a:srgbClr val="F5F9FC"/>
                </a:solidFill>
              </a:rPr>
              <a:t>连锁零售</a:t>
            </a:r>
            <a:endParaRPr sz="2025" b="1">
              <a:solidFill>
                <a:srgbClr val="F5F9FC"/>
              </a:solidFill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933450" y="3352800"/>
            <a:ext cx="1447800" cy="0"/>
          </a:xfrm>
          <a:prstGeom prst="line">
            <a:avLst/>
          </a:prstGeom>
          <a:noFill/>
          <a:ln w="28575">
            <a:solidFill>
              <a:srgbClr val="36D6C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3600450"/>
            <a:ext cx="152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万店运营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门店灰度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会员订单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2895600" y="2114550"/>
            <a:ext cx="1866900" cy="3238500"/>
          </a:xfrm>
          <a:prstGeom prst="roundRect">
            <a:avLst>
              <a:gd name="adj" fmla="val 9184"/>
            </a:avLst>
          </a:prstGeom>
          <a:solidFill>
            <a:srgbClr val="0D2236"/>
          </a:solidFill>
          <a:ln w="19050">
            <a:solidFill>
              <a:srgbClr val="8BB3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067050" y="23050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8BB3FF"/>
                </a:solidFill>
              </a:defRPr>
            </a:pPr>
            <a:r>
              <a:rPr sz="1125" b="1">
                <a:solidFill>
                  <a:srgbClr val="8BB3FF"/>
                </a:solidFill>
              </a:rPr>
              <a:t>02</a:t>
            </a:r>
            <a:endParaRPr sz="1125" b="1">
              <a:solidFill>
                <a:srgbClr val="8BB3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067050" y="2762250"/>
            <a:ext cx="152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025" b="1">
                <a:solidFill>
                  <a:srgbClr val="F5F9FC"/>
                </a:solidFill>
              </a:defRPr>
            </a:pPr>
            <a:r>
              <a:rPr sz="2025" b="1">
                <a:solidFill>
                  <a:srgbClr val="F5F9FC"/>
                </a:solidFill>
              </a:rPr>
              <a:t>企业 SaaS</a:t>
            </a:r>
            <a:endParaRPr sz="2025" b="1">
              <a:solidFill>
                <a:srgbClr val="F5F9FC"/>
              </a:solidFill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3105150" y="3581400"/>
            <a:ext cx="1447800" cy="0"/>
          </a:xfrm>
          <a:prstGeom prst="line">
            <a:avLst/>
          </a:prstGeom>
          <a:noFill/>
          <a:ln w="28575">
            <a:solidFill>
              <a:srgbClr val="8BB3F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067050" y="3829050"/>
            <a:ext cx="152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多租户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客户分级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开放接口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5067300" y="1885950"/>
            <a:ext cx="1866900" cy="3238500"/>
          </a:xfrm>
          <a:prstGeom prst="roundRect">
            <a:avLst>
              <a:gd name="adj" fmla="val 9184"/>
            </a:avLst>
          </a:prstGeom>
          <a:solidFill>
            <a:srgbClr val="0D2236"/>
          </a:solidFill>
          <a:ln w="19050">
            <a:solidFill>
              <a:srgbClr val="5FE0A1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238750" y="20764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FE0A1"/>
                </a:solidFill>
              </a:defRPr>
            </a:pPr>
            <a:r>
              <a:rPr sz="1125" b="1">
                <a:solidFill>
                  <a:srgbClr val="5FE0A1"/>
                </a:solidFill>
              </a:rPr>
              <a:t>03</a:t>
            </a:r>
            <a:endParaRPr sz="1125" b="1">
              <a:solidFill>
                <a:srgbClr val="5FE0A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238750" y="2533650"/>
            <a:ext cx="152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025" b="1">
                <a:solidFill>
                  <a:srgbClr val="F5F9FC"/>
                </a:solidFill>
              </a:defRPr>
            </a:pPr>
            <a:r>
              <a:rPr sz="2025" b="1">
                <a:solidFill>
                  <a:srgbClr val="F5F9FC"/>
                </a:solidFill>
              </a:rPr>
              <a:t>大数据业务</a:t>
            </a:r>
            <a:endParaRPr sz="2025" b="1">
              <a:solidFill>
                <a:srgbClr val="F5F9FC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5276850" y="3352800"/>
            <a:ext cx="1447800" cy="0"/>
          </a:xfrm>
          <a:prstGeom prst="line">
            <a:avLst/>
          </a:prstGeom>
          <a:noFill/>
          <a:ln w="28575">
            <a:solidFill>
              <a:srgbClr val="5FE0A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238750" y="3600450"/>
            <a:ext cx="152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缓存治理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异步消息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对象存储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239000" y="2114550"/>
            <a:ext cx="1866900" cy="3238500"/>
          </a:xfrm>
          <a:prstGeom prst="roundRect">
            <a:avLst>
              <a:gd name="adj" fmla="val 9184"/>
            </a:avLst>
          </a:prstGeom>
          <a:solidFill>
            <a:srgbClr val="0D2236"/>
          </a:solidFill>
          <a:ln w="19050">
            <a:solidFill>
              <a:srgbClr val="FFB45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10450" y="23050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B45C"/>
                </a:solidFill>
              </a:defRPr>
            </a:pPr>
            <a:r>
              <a:rPr sz="1125" b="1">
                <a:solidFill>
                  <a:srgbClr val="FFB45C"/>
                </a:solidFill>
              </a:rPr>
              <a:t>04</a:t>
            </a:r>
            <a:endParaRPr sz="1125" b="1">
              <a:solidFill>
                <a:srgbClr val="FFB45C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10450" y="2762250"/>
            <a:ext cx="152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025" b="1">
                <a:solidFill>
                  <a:srgbClr val="F5F9FC"/>
                </a:solidFill>
              </a:defRPr>
            </a:pPr>
            <a:r>
              <a:rPr sz="2025" b="1">
                <a:solidFill>
                  <a:srgbClr val="F5F9FC"/>
                </a:solidFill>
              </a:rPr>
              <a:t>企业知识库</a:t>
            </a:r>
            <a:endParaRPr sz="2025" b="1">
              <a:solidFill>
                <a:srgbClr val="F5F9FC"/>
              </a:solidFill>
            </a:endParaRP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7448550" y="3581400"/>
            <a:ext cx="1447800" cy="0"/>
          </a:xfrm>
          <a:prstGeom prst="line">
            <a:avLst/>
          </a:prstGeom>
          <a:noFill/>
          <a:ln w="28575">
            <a:solidFill>
              <a:srgbClr val="FFB45C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410450" y="3829050"/>
            <a:ext cx="152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安全文档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权限检索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模型切换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410700" y="1885950"/>
            <a:ext cx="1866900" cy="3238500"/>
          </a:xfrm>
          <a:prstGeom prst="roundRect">
            <a:avLst>
              <a:gd name="adj" fmla="val 9184"/>
            </a:avLst>
          </a:prstGeom>
          <a:solidFill>
            <a:srgbClr val="0D2236"/>
          </a:solidFill>
          <a:ln w="19050">
            <a:solidFill>
              <a:srgbClr val="FF718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582150" y="20764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7185"/>
                </a:solidFill>
              </a:defRPr>
            </a:pPr>
            <a:r>
              <a:rPr sz="1125" b="1">
                <a:solidFill>
                  <a:srgbClr val="FF7185"/>
                </a:solidFill>
              </a:rPr>
              <a:t>05</a:t>
            </a:r>
            <a:endParaRPr sz="1125" b="1">
              <a:solidFill>
                <a:srgbClr val="FF7185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582150" y="2533650"/>
            <a:ext cx="152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025" b="1">
                <a:solidFill>
                  <a:srgbClr val="F5F9FC"/>
                </a:solidFill>
              </a:defRPr>
            </a:pPr>
            <a:r>
              <a:rPr sz="2025" b="1">
                <a:solidFill>
                  <a:srgbClr val="F5F9FC"/>
                </a:solidFill>
              </a:rPr>
              <a:t>生态开放平台</a:t>
            </a:r>
            <a:endParaRPr sz="2025" b="1">
              <a:solidFill>
                <a:srgbClr val="F5F9FC"/>
              </a:solidFill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9620250" y="3352800"/>
            <a:ext cx="1447800" cy="0"/>
          </a:xfrm>
          <a:prstGeom prst="line">
            <a:avLst/>
          </a:prstGeom>
          <a:noFill/>
          <a:ln w="28575">
            <a:solidFill>
              <a:srgbClr val="FF7185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582150" y="3600450"/>
            <a:ext cx="152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OAuth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限流审计</a:t>
            </a:r>
            <a:endParaRPr sz="1500" b="0">
              <a:solidFill>
                <a:srgbClr val="D9E6EF"/>
              </a:solidFill>
            </a:endParaRPr>
          </a:p>
          <a:p>
            <a:pPr algn="ctr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稳定协议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33450" y="5600700"/>
            <a:ext cx="1032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不同场景复用同一套稳定、安全与治理机制。</a:t>
            </a:r>
            <a:endParaRPr sz="1800" b="1">
              <a:solidFill>
                <a:srgbClr val="F5F9FC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落地路径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19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不推倒重来，以高价值场景为起点渐进落地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19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1238250" y="3162300"/>
            <a:ext cx="9620250" cy="0"/>
          </a:xfrm>
          <a:prstGeom prst="line">
            <a:avLst/>
          </a:prstGeom>
          <a:noFill/>
          <a:ln w="66675">
            <a:solidFill>
              <a:srgbClr val="23445C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933450" y="2771775"/>
            <a:ext cx="781050" cy="781050"/>
          </a:xfrm>
          <a:prstGeom prst="ellipse">
            <a:avLst/>
          </a:prstGeom>
          <a:solidFill>
            <a:srgbClr val="0D2236"/>
          </a:solidFill>
          <a:ln w="38100">
            <a:solidFill>
              <a:srgbClr val="8EA8B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2981325"/>
            <a:ext cx="438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8EA8BA"/>
                </a:solidFill>
              </a:defRPr>
            </a:pPr>
            <a:r>
              <a:rPr sz="1200" b="1">
                <a:solidFill>
                  <a:srgbClr val="8EA8BA"/>
                </a:solidFill>
              </a:rPr>
              <a:t>01</a:t>
            </a:r>
            <a:endParaRPr sz="1200" b="1">
              <a:solidFill>
                <a:srgbClr val="8EA8B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1952625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现状评估</a:t>
            </a:r>
            <a:endParaRPr sz="1800" b="1">
              <a:solidFill>
                <a:srgbClr val="F5F9FC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3781425"/>
            <a:ext cx="1581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系统、客户、数据、流量与风险盘点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3143250" y="2771775"/>
            <a:ext cx="781050" cy="781050"/>
          </a:xfrm>
          <a:prstGeom prst="ellipse">
            <a:avLst/>
          </a:prstGeom>
          <a:solidFill>
            <a:srgbClr val="0D2236"/>
          </a:solidFill>
          <a:ln w="38100">
            <a:solidFill>
              <a:srgbClr val="8BB3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314700" y="2981325"/>
            <a:ext cx="438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8BB3FF"/>
                </a:solidFill>
              </a:defRPr>
            </a:pPr>
            <a:r>
              <a:rPr sz="1200" b="1">
                <a:solidFill>
                  <a:srgbClr val="8BB3FF"/>
                </a:solidFill>
              </a:rPr>
              <a:t>02</a:t>
            </a:r>
            <a:endParaRPr sz="1200" b="1">
              <a:solidFill>
                <a:srgbClr val="8BB3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800350" y="1952625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能力映射</a:t>
            </a:r>
            <a:endParaRPr sz="1800" b="1">
              <a:solidFill>
                <a:srgbClr val="F5F9FC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743200" y="3781425"/>
            <a:ext cx="1581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复用、适配与新增边界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5353050" y="2771775"/>
            <a:ext cx="781050" cy="781050"/>
          </a:xfrm>
          <a:prstGeom prst="ellipse">
            <a:avLst/>
          </a:prstGeom>
          <a:solidFill>
            <a:srgbClr val="0D2236"/>
          </a:solidFill>
          <a:ln w="38100">
            <a:solidFill>
              <a:srgbClr val="36D6C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524500" y="2981325"/>
            <a:ext cx="438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03</a:t>
            </a:r>
            <a:endParaRPr sz="1200" b="1">
              <a:solidFill>
                <a:srgbClr val="36D6C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010150" y="1952625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试点验证</a:t>
            </a:r>
            <a:endParaRPr sz="1800" b="1">
              <a:solidFill>
                <a:srgbClr val="F5F9FC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953000" y="3781425"/>
            <a:ext cx="1581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网关 / 租户 / 性能 / 文件 / 知识库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7562850" y="2771775"/>
            <a:ext cx="781050" cy="781050"/>
          </a:xfrm>
          <a:prstGeom prst="ellipse">
            <a:avLst/>
          </a:prstGeom>
          <a:solidFill>
            <a:srgbClr val="0D2236"/>
          </a:solidFill>
          <a:ln w="38100">
            <a:solidFill>
              <a:srgbClr val="5FE0A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734300" y="2981325"/>
            <a:ext cx="438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5FE0A1"/>
                </a:solidFill>
              </a:defRPr>
            </a:pPr>
            <a:r>
              <a:rPr sz="1200" b="1">
                <a:solidFill>
                  <a:srgbClr val="5FE0A1"/>
                </a:solidFill>
              </a:rPr>
              <a:t>04</a:t>
            </a:r>
            <a:endParaRPr sz="1200" b="1">
              <a:solidFill>
                <a:srgbClr val="5FE0A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219950" y="1952625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灰度迁移</a:t>
            </a:r>
            <a:endParaRPr sz="1800" b="1">
              <a:solidFill>
                <a:srgbClr val="F5F9FC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162800" y="3781425"/>
            <a:ext cx="1581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双轨运行，分批接入，保留回滚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9772650" y="2771775"/>
            <a:ext cx="781050" cy="781050"/>
          </a:xfrm>
          <a:prstGeom prst="ellipse">
            <a:avLst/>
          </a:prstGeom>
          <a:solidFill>
            <a:srgbClr val="0D2236"/>
          </a:solidFill>
          <a:ln w="38100">
            <a:solidFill>
              <a:srgbClr val="FFB45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944100" y="2981325"/>
            <a:ext cx="438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B45C"/>
                </a:solidFill>
              </a:defRPr>
            </a:pPr>
            <a:r>
              <a:rPr sz="1200" b="1">
                <a:solidFill>
                  <a:srgbClr val="FFB45C"/>
                </a:solidFill>
              </a:rPr>
              <a:t>05</a:t>
            </a:r>
            <a:endParaRPr sz="1200" b="1">
              <a:solidFill>
                <a:srgbClr val="FFB45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429750" y="1952625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5F9FC"/>
                </a:solidFill>
              </a:defRPr>
            </a:pPr>
            <a:r>
              <a:rPr sz="1800" b="1">
                <a:solidFill>
                  <a:srgbClr val="F5F9FC"/>
                </a:solidFill>
              </a:rPr>
              <a:t>平台运营</a:t>
            </a:r>
            <a:endParaRPr sz="1800" b="1">
              <a:solidFill>
                <a:srgbClr val="F5F9FC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372600" y="3781425"/>
            <a:ext cx="1581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D9E6EF"/>
                </a:solidFill>
              </a:defRPr>
            </a:pPr>
            <a:r>
              <a:rPr sz="1275" b="0">
                <a:solidFill>
                  <a:srgbClr val="D9E6EF"/>
                </a:solidFill>
              </a:rPr>
              <a:t>版本、指标、负责人和反馈闭环</a:t>
            </a:r>
            <a:endParaRPr sz="1275" b="0">
              <a:solidFill>
                <a:srgbClr val="D9E6E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2038350" y="5095875"/>
            <a:ext cx="8115300" cy="666750"/>
          </a:xfrm>
          <a:prstGeom prst="roundRect">
            <a:avLst>
              <a:gd name="adj" fmla="val 22857"/>
            </a:avLst>
          </a:prstGeom>
          <a:solidFill>
            <a:srgbClr val="102A40"/>
          </a:solidFill>
          <a:ln w="9525">
            <a:solidFill>
              <a:srgbClr val="36D6C2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400300" y="5286375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5F9FC"/>
                </a:solidFill>
              </a:defRPr>
            </a:pPr>
            <a:r>
              <a:rPr sz="1875" b="1">
                <a:solidFill>
                  <a:srgbClr val="F5F9FC"/>
                </a:solidFill>
              </a:rPr>
              <a:t>每个阶段都形成可验证收益，降低一次性改造风险。</a:t>
            </a:r>
            <a:endParaRPr sz="1875" b="1">
              <a:solidFill>
                <a:srgbClr val="F5F9FC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23875"/>
            <a:ext cx="2476500" cy="619125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1485900" y="1952625"/>
            <a:ext cx="92202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750" b="1">
                <a:solidFill>
                  <a:srgbClr val="F5F9FC"/>
                </a:solidFill>
              </a:defRPr>
            </a:pPr>
            <a:r>
              <a:rPr sz="3750" b="1">
                <a:solidFill>
                  <a:srgbClr val="F5F9FC"/>
                </a:solidFill>
              </a:rPr>
              <a:t>让每一次业务建设，</a:t>
            </a:r>
            <a:endParaRPr sz="3750" b="1">
              <a:solidFill>
                <a:srgbClr val="F5F9FC"/>
              </a:solidFill>
            </a:endParaRPr>
          </a:p>
          <a:p>
            <a:pPr algn="ctr">
              <a:defRPr sz="3750" b="1">
                <a:solidFill>
                  <a:srgbClr val="F5F9FC"/>
                </a:solidFill>
              </a:defRPr>
            </a:pPr>
            <a:r>
              <a:rPr sz="3750" b="1">
                <a:solidFill>
                  <a:srgbClr val="F5F9FC"/>
                </a:solidFill>
              </a:rPr>
              <a:t>都成为下一次增长的底座</a:t>
            </a:r>
            <a:endParaRPr sz="3750" b="1">
              <a:solidFill>
                <a:srgbClr val="F5F9FC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4705350" y="3600450"/>
            <a:ext cx="2781300" cy="47625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809750" y="3962400"/>
            <a:ext cx="857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0">
                <a:solidFill>
                  <a:srgbClr val="D9E6EF"/>
                </a:solidFill>
              </a:defRPr>
            </a:pPr>
            <a:r>
              <a:rPr sz="1875" b="0">
                <a:solidFill>
                  <a:srgbClr val="D9E6EF"/>
                </a:solidFill>
              </a:rPr>
              <a:t>把过去五年的经验，变成未来五年可复用、可演进、可增值的数字资产。</a:t>
            </a:r>
            <a:endParaRPr sz="1875" b="0">
              <a:solidFill>
                <a:srgbClr val="D9E6EF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3743325" y="5095875"/>
            <a:ext cx="4705350" cy="647700"/>
          </a:xfrm>
          <a:prstGeom prst="roundRect">
            <a:avLst>
              <a:gd name="adj" fmla="val 23529"/>
            </a:avLst>
          </a:prstGeom>
          <a:solidFill>
            <a:srgbClr val="102A40"/>
          </a:solidFill>
          <a:ln w="19050">
            <a:solidFill>
              <a:srgbClr val="36D6C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3924300" y="527685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F5F9FC"/>
                </a:solidFill>
              </a:defRPr>
            </a:pPr>
            <a:r>
              <a:rPr sz="1575" b="1">
                <a:solidFill>
                  <a:srgbClr val="F5F9FC"/>
                </a:solidFill>
              </a:rPr>
              <a:t>下一步：选择高价值场景，启动联合评估</a:t>
            </a:r>
            <a:endParaRPr sz="1575" b="1">
              <a:solidFill>
                <a:srgbClr val="F5F9F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6410325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8EA8BA"/>
                </a:solidFill>
              </a:defRPr>
            </a:pPr>
            <a:r>
              <a:rPr sz="975" b="0">
                <a:solidFill>
                  <a:srgbClr val="8EA8BA"/>
                </a:solidFill>
              </a:rPr>
              <a:t>ATLAS RICHIE · ENTERPRISE TECHNOLOGY PLATFORM</a:t>
            </a:r>
            <a:endParaRPr sz="975" b="0">
              <a:solidFill>
                <a:srgbClr val="8EA8BA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附录 A · 工程证据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21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能力背后有实际工程落盘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21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2019300"/>
            <a:ext cx="1885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600" b="1">
                <a:solidFill>
                  <a:srgbClr val="36D6C2"/>
                </a:solidFill>
              </a:defRPr>
            </a:pPr>
            <a:r>
              <a:rPr sz="3600" b="1">
                <a:solidFill>
                  <a:srgbClr val="36D6C2"/>
                </a:solidFill>
              </a:rPr>
              <a:t>29</a:t>
            </a:r>
            <a:endParaRPr sz="3600" b="1">
              <a:solidFill>
                <a:srgbClr val="36D6C2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038225" y="2800350"/>
            <a:ext cx="1219200" cy="0"/>
          </a:xfrm>
          <a:prstGeom prst="line">
            <a:avLst/>
          </a:prstGeom>
          <a:noFill/>
          <a:ln w="28575">
            <a:solidFill>
              <a:srgbClr val="36D6C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3009900"/>
            <a:ext cx="188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D9E6EF"/>
                </a:solidFill>
              </a:defRPr>
            </a:pPr>
            <a:r>
              <a:rPr sz="1425" b="1">
                <a:solidFill>
                  <a:srgbClr val="D9E6EF"/>
                </a:solidFill>
              </a:rPr>
              <a:t>组件家族</a:t>
            </a:r>
            <a:endParaRPr sz="1425" b="1">
              <a:solidFill>
                <a:srgbClr val="D9E6E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895600" y="2019300"/>
            <a:ext cx="1885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600" b="1">
                <a:solidFill>
                  <a:srgbClr val="8BB3FF"/>
                </a:solidFill>
              </a:defRPr>
            </a:pPr>
            <a:r>
              <a:rPr sz="3600" b="1">
                <a:solidFill>
                  <a:srgbClr val="8BB3FF"/>
                </a:solidFill>
              </a:rPr>
              <a:t>124</a:t>
            </a:r>
            <a:endParaRPr sz="3600" b="1">
              <a:solidFill>
                <a:srgbClr val="8BB3FF"/>
              </a:solidFill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3228975" y="2800350"/>
            <a:ext cx="1219200" cy="0"/>
          </a:xfrm>
          <a:prstGeom prst="line">
            <a:avLst/>
          </a:prstGeom>
          <a:noFill/>
          <a:ln w="28575">
            <a:solidFill>
              <a:srgbClr val="8BB3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895600" y="3009900"/>
            <a:ext cx="188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D9E6EF"/>
                </a:solidFill>
              </a:defRPr>
            </a:pPr>
            <a:r>
              <a:rPr sz="1425" b="1">
                <a:solidFill>
                  <a:srgbClr val="D9E6EF"/>
                </a:solidFill>
              </a:rPr>
              <a:t>Maven 模块</a:t>
            </a:r>
            <a:endParaRPr sz="1425" b="1">
              <a:solidFill>
                <a:srgbClr val="D9E6E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86350" y="2019300"/>
            <a:ext cx="1885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600" b="1">
                <a:solidFill>
                  <a:srgbClr val="5FE0A1"/>
                </a:solidFill>
              </a:defRPr>
            </a:pPr>
            <a:r>
              <a:rPr sz="3600" b="1">
                <a:solidFill>
                  <a:srgbClr val="5FE0A1"/>
                </a:solidFill>
              </a:rPr>
              <a:t>1,679</a:t>
            </a:r>
            <a:endParaRPr sz="3600" b="1">
              <a:solidFill>
                <a:srgbClr val="5FE0A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5419725" y="2800350"/>
            <a:ext cx="1219200" cy="0"/>
          </a:xfrm>
          <a:prstGeom prst="line">
            <a:avLst/>
          </a:prstGeom>
          <a:noFill/>
          <a:ln w="28575">
            <a:solidFill>
              <a:srgbClr val="5FE0A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086350" y="3009900"/>
            <a:ext cx="188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D9E6EF"/>
                </a:solidFill>
              </a:defRPr>
            </a:pPr>
            <a:r>
              <a:rPr sz="1425" b="1">
                <a:solidFill>
                  <a:srgbClr val="D9E6EF"/>
                </a:solidFill>
              </a:rPr>
              <a:t>主 Java 源文件</a:t>
            </a:r>
            <a:endParaRPr sz="1425" b="1">
              <a:solidFill>
                <a:srgbClr val="D9E6E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77100" y="2019300"/>
            <a:ext cx="1885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600" b="1">
                <a:solidFill>
                  <a:srgbClr val="FFB45C"/>
                </a:solidFill>
              </a:defRPr>
            </a:pPr>
            <a:r>
              <a:rPr sz="3600" b="1">
                <a:solidFill>
                  <a:srgbClr val="FFB45C"/>
                </a:solidFill>
              </a:rPr>
              <a:t>1,006</a:t>
            </a:r>
            <a:endParaRPr sz="3600" b="1">
              <a:solidFill>
                <a:srgbClr val="FFB45C"/>
              </a:solidFill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7610475" y="2800350"/>
            <a:ext cx="1219200" cy="0"/>
          </a:xfrm>
          <a:prstGeom prst="line">
            <a:avLst/>
          </a:prstGeom>
          <a:noFill/>
          <a:ln w="28575">
            <a:solidFill>
              <a:srgbClr val="FFB45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277100" y="3009900"/>
            <a:ext cx="188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D9E6EF"/>
                </a:solidFill>
              </a:defRPr>
            </a:pPr>
            <a:r>
              <a:rPr sz="1425" b="1">
                <a:solidFill>
                  <a:srgbClr val="D9E6EF"/>
                </a:solidFill>
              </a:rPr>
              <a:t>测试 Java 源文件</a:t>
            </a:r>
            <a:endParaRPr sz="1425" b="1">
              <a:solidFill>
                <a:srgbClr val="D9E6E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467850" y="2019300"/>
            <a:ext cx="1885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600" b="1">
                <a:solidFill>
                  <a:srgbClr val="74E8D9"/>
                </a:solidFill>
              </a:defRPr>
            </a:pPr>
            <a:r>
              <a:rPr sz="3600" b="1">
                <a:solidFill>
                  <a:srgbClr val="74E8D9"/>
                </a:solidFill>
              </a:rPr>
              <a:t>211</a:t>
            </a:r>
            <a:endParaRPr sz="3600" b="1">
              <a:solidFill>
                <a:srgbClr val="74E8D9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9801225" y="2800350"/>
            <a:ext cx="1219200" cy="0"/>
          </a:xfrm>
          <a:prstGeom prst="line">
            <a:avLst/>
          </a:prstGeom>
          <a:noFill/>
          <a:ln w="28575">
            <a:solidFill>
              <a:srgbClr val="74E8D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467850" y="3009900"/>
            <a:ext cx="188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D9E6EF"/>
                </a:solidFill>
              </a:defRPr>
            </a:pPr>
            <a:r>
              <a:rPr sz="1425" b="1">
                <a:solidFill>
                  <a:srgbClr val="D9E6EF"/>
                </a:solidFill>
              </a:rPr>
              <a:t>设计与使用文档</a:t>
            </a:r>
            <a:endParaRPr sz="1425" b="1">
              <a:solidFill>
                <a:srgbClr val="D9E6EF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581150" y="4010025"/>
            <a:ext cx="1924050" cy="914400"/>
          </a:xfrm>
          <a:prstGeom prst="roundRect">
            <a:avLst>
              <a:gd name="adj" fmla="val 14583"/>
            </a:avLst>
          </a:prstGeom>
          <a:solidFill>
            <a:srgbClr val="0D2236"/>
          </a:solidFill>
          <a:ln w="9525">
            <a:solidFill>
              <a:srgbClr val="23445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733550" y="419100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5F9FC"/>
                </a:solidFill>
              </a:defRPr>
            </a:pPr>
            <a:r>
              <a:rPr sz="2250" b="1">
                <a:solidFill>
                  <a:srgbClr val="F5F9FC"/>
                </a:solidFill>
              </a:rPr>
              <a:t>8</a:t>
            </a:r>
            <a:endParaRPr sz="2250" b="1">
              <a:solidFill>
                <a:srgbClr val="F5F9FC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419350" y="4248150"/>
            <a:ext cx="933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6EF"/>
                </a:solidFill>
              </a:defRPr>
            </a:pPr>
            <a:r>
              <a:rPr sz="1200" b="0">
                <a:solidFill>
                  <a:srgbClr val="D9E6EF"/>
                </a:solidFill>
              </a:rPr>
              <a:t>向量 Provider 实现</a:t>
            </a:r>
            <a:endParaRPr sz="1200" b="0">
              <a:solidFill>
                <a:srgbClr val="D9E6EF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3962400" y="4010025"/>
            <a:ext cx="1924050" cy="914400"/>
          </a:xfrm>
          <a:prstGeom prst="roundRect">
            <a:avLst>
              <a:gd name="adj" fmla="val 14583"/>
            </a:avLst>
          </a:prstGeom>
          <a:solidFill>
            <a:srgbClr val="0D2236"/>
          </a:solidFill>
          <a:ln w="9525">
            <a:solidFill>
              <a:srgbClr val="23445C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114800" y="419100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5F9FC"/>
                </a:solidFill>
              </a:defRPr>
            </a:pPr>
            <a:r>
              <a:rPr sz="2250" b="1">
                <a:solidFill>
                  <a:srgbClr val="F5F9FC"/>
                </a:solidFill>
              </a:rPr>
              <a:t>8</a:t>
            </a:r>
            <a:endParaRPr sz="2250" b="1">
              <a:solidFill>
                <a:srgbClr val="F5F9FC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800600" y="4248150"/>
            <a:ext cx="933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6EF"/>
                </a:solidFill>
              </a:defRPr>
            </a:pPr>
            <a:r>
              <a:rPr sz="1200" b="0">
                <a:solidFill>
                  <a:srgbClr val="D9E6EF"/>
                </a:solidFill>
              </a:rPr>
              <a:t>OCR Provider 实现</a:t>
            </a:r>
            <a:endParaRPr sz="1200" b="0">
              <a:solidFill>
                <a:srgbClr val="D9E6E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343650" y="4010025"/>
            <a:ext cx="1924050" cy="914400"/>
          </a:xfrm>
          <a:prstGeom prst="roundRect">
            <a:avLst>
              <a:gd name="adj" fmla="val 14583"/>
            </a:avLst>
          </a:prstGeom>
          <a:solidFill>
            <a:srgbClr val="0D2236"/>
          </a:solidFill>
          <a:ln w="9525">
            <a:solidFill>
              <a:srgbClr val="23445C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496050" y="419100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5F9FC"/>
                </a:solidFill>
              </a:defRPr>
            </a:pPr>
            <a:r>
              <a:rPr sz="2250" b="1">
                <a:solidFill>
                  <a:srgbClr val="F5F9FC"/>
                </a:solidFill>
              </a:rPr>
              <a:t>12</a:t>
            </a:r>
            <a:endParaRPr sz="2250" b="1">
              <a:solidFill>
                <a:srgbClr val="F5F9FC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181850" y="4248150"/>
            <a:ext cx="933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6EF"/>
                </a:solidFill>
              </a:defRPr>
            </a:pPr>
            <a:r>
              <a:rPr sz="1200" b="0">
                <a:solidFill>
                  <a:srgbClr val="D9E6EF"/>
                </a:solidFill>
              </a:rPr>
              <a:t>存储 Provider 子模块</a:t>
            </a:r>
            <a:endParaRPr sz="1200" b="0">
              <a:solidFill>
                <a:srgbClr val="D9E6EF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724900" y="4010025"/>
            <a:ext cx="1924050" cy="914400"/>
          </a:xfrm>
          <a:prstGeom prst="roundRect">
            <a:avLst>
              <a:gd name="adj" fmla="val 14583"/>
            </a:avLst>
          </a:prstGeom>
          <a:solidFill>
            <a:srgbClr val="0D2236"/>
          </a:solidFill>
          <a:ln w="9525">
            <a:solidFill>
              <a:srgbClr val="23445C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877300" y="4191000"/>
            <a:ext cx="647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5F9FC"/>
                </a:solidFill>
              </a:defRPr>
            </a:pPr>
            <a:r>
              <a:rPr sz="2250" b="1">
                <a:solidFill>
                  <a:srgbClr val="F5F9FC"/>
                </a:solidFill>
              </a:rPr>
              <a:t>11</a:t>
            </a:r>
            <a:endParaRPr sz="2250" b="1">
              <a:solidFill>
                <a:srgbClr val="F5F9FC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563100" y="4248150"/>
            <a:ext cx="933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9E6EF"/>
                </a:solidFill>
              </a:defRPr>
            </a:pPr>
            <a:r>
              <a:rPr sz="1200" b="0">
                <a:solidFill>
                  <a:srgbClr val="D9E6EF"/>
                </a:solidFill>
              </a:rPr>
              <a:t>消息适配子模块</a:t>
            </a:r>
            <a:endParaRPr sz="1200" b="0">
              <a:solidFill>
                <a:srgbClr val="D9E6EF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90600" y="5476875"/>
            <a:ext cx="10210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0">
                <a:solidFill>
                  <a:srgbClr val="8EA8BA"/>
                </a:solidFill>
              </a:defRPr>
            </a:pPr>
            <a:r>
              <a:rPr sz="1575" b="0">
                <a:solidFill>
                  <a:srgbClr val="8EA8BA"/>
                </a:solidFill>
              </a:rPr>
              <a:t>工程规模证明能力广度；性能数字必须绑定具体业务、代码与资源条件。</a:t>
            </a:r>
            <a:endParaRPr sz="1575" b="0">
              <a:solidFill>
                <a:srgbClr val="8EA8BA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附录 B · 生产事实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22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性能指标要绑定场景，稳定性要明确边界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22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1676400"/>
            <a:ext cx="5010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5F9FC"/>
                </a:solidFill>
              </a:defRPr>
            </a:pPr>
            <a:r>
              <a:rPr sz="1875" b="1">
                <a:solidFill>
                  <a:srgbClr val="F5F9FC"/>
                </a:solidFill>
              </a:rPr>
              <a:t>餐饮业务高峰 · 已验证接口时延</a:t>
            </a:r>
            <a:endParaRPr sz="1875" b="1">
              <a:solidFill>
                <a:srgbClr val="F5F9F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2152650"/>
            <a:ext cx="2247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36D6C2"/>
                </a:solidFill>
              </a:defRPr>
            </a:pPr>
            <a:r>
              <a:rPr sz="2400" b="1">
                <a:solidFill>
                  <a:srgbClr val="36D6C2"/>
                </a:solidFill>
              </a:rPr>
              <a:t>10–100ms</a:t>
            </a:r>
            <a:endParaRPr sz="2400" b="1">
              <a:solidFill>
                <a:srgbClr val="36D6C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143250" y="222885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D9E6EF"/>
                </a:solidFill>
              </a:defRPr>
            </a:pPr>
            <a:r>
              <a:rPr sz="1500" b="1">
                <a:solidFill>
                  <a:srgbClr val="D9E6EF"/>
                </a:solidFill>
              </a:rPr>
              <a:t>核心高频业务接口</a:t>
            </a:r>
            <a:endParaRPr sz="1500" b="1">
              <a:solidFill>
                <a:srgbClr val="D9E6EF"/>
              </a:solidFill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00100" y="2838450"/>
            <a:ext cx="470535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3124200"/>
            <a:ext cx="2247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8BB3FF"/>
                </a:solidFill>
              </a:defRPr>
            </a:pPr>
            <a:r>
              <a:rPr sz="2400" b="1">
                <a:solidFill>
                  <a:srgbClr val="8BB3FF"/>
                </a:solidFill>
              </a:rPr>
              <a:t>50–200ms</a:t>
            </a:r>
            <a:endParaRPr sz="2400" b="1">
              <a:solidFill>
                <a:srgbClr val="8BB3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143250" y="320040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D9E6EF"/>
                </a:solidFill>
              </a:defRPr>
            </a:pPr>
            <a:r>
              <a:rPr sz="1500" b="1">
                <a:solidFill>
                  <a:srgbClr val="D9E6EF"/>
                </a:solidFill>
              </a:rPr>
              <a:t>事务型业务接口</a:t>
            </a:r>
            <a:endParaRPr sz="1500" b="1">
              <a:solidFill>
                <a:srgbClr val="D9E6EF"/>
              </a:solidFill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800100" y="3810000"/>
            <a:ext cx="470535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0100" y="4095750"/>
            <a:ext cx="2247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5FE0A1"/>
                </a:solidFill>
              </a:defRPr>
            </a:pPr>
            <a:r>
              <a:rPr sz="2400" b="1">
                <a:solidFill>
                  <a:srgbClr val="5FE0A1"/>
                </a:solidFill>
              </a:rPr>
              <a:t>100–200ms</a:t>
            </a:r>
            <a:endParaRPr sz="2400" b="1">
              <a:solidFill>
                <a:srgbClr val="5FE0A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143250" y="417195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D9E6EF"/>
                </a:solidFill>
              </a:defRPr>
            </a:pPr>
            <a:r>
              <a:rPr sz="1500" b="1">
                <a:solidFill>
                  <a:srgbClr val="D9E6EF"/>
                </a:solidFill>
              </a:rPr>
              <a:t>履约相关接口</a:t>
            </a:r>
            <a:endParaRPr sz="1500" b="1">
              <a:solidFill>
                <a:srgbClr val="D9E6EF"/>
              </a:solidFill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800100" y="4781550"/>
            <a:ext cx="470535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781050" y="5181600"/>
            <a:ext cx="4857750" cy="552450"/>
          </a:xfrm>
          <a:prstGeom prst="roundRect">
            <a:avLst>
              <a:gd name="adj" fmla="val 20690"/>
            </a:avLst>
          </a:prstGeom>
          <a:solidFill>
            <a:srgbClr val="102A40"/>
          </a:solidFill>
          <a:ln w="9525">
            <a:solidFill>
              <a:srgbClr val="36D6C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62025" y="5334000"/>
            <a:ext cx="449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5F9FC"/>
                </a:solidFill>
              </a:defRPr>
            </a:pPr>
            <a:r>
              <a:rPr sz="1275" b="1">
                <a:solidFill>
                  <a:srgbClr val="F5F9FC"/>
                </a:solidFill>
              </a:rPr>
              <a:t>午晚餐高峰 · 4C8G · 3–4 Pod · 不含突发涌入</a:t>
            </a:r>
            <a:endParaRPr sz="1275" b="1">
              <a:solidFill>
                <a:srgbClr val="F5F9FC"/>
              </a:solidFill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6000750" y="1695450"/>
            <a:ext cx="0" cy="3943350"/>
          </a:xfrm>
          <a:prstGeom prst="line">
            <a:avLst/>
          </a:prstGeom>
          <a:noFill/>
          <a:ln w="19050">
            <a:solidFill>
              <a:srgbClr val="23445C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96050" y="1676400"/>
            <a:ext cx="1866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36D6C2"/>
                </a:solidFill>
              </a:defRPr>
            </a:pPr>
            <a:r>
              <a:rPr sz="1875" b="1">
                <a:solidFill>
                  <a:srgbClr val="36D6C2"/>
                </a:solidFill>
              </a:rPr>
              <a:t>中台负责</a:t>
            </a:r>
            <a:endParaRPr sz="1875" b="1">
              <a:solidFill>
                <a:srgbClr val="36D6C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96050" y="2133600"/>
            <a:ext cx="4457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缓存、消息、并发、超时、熔断、灰度与默认防护机制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96050" y="3105150"/>
            <a:ext cx="1866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FB45C"/>
                </a:solidFill>
              </a:defRPr>
            </a:pPr>
            <a:r>
              <a:rPr sz="1875" b="1">
                <a:solidFill>
                  <a:srgbClr val="FFB45C"/>
                </a:solidFill>
              </a:rPr>
              <a:t>共同决定</a:t>
            </a:r>
            <a:endParaRPr sz="1875" b="1">
              <a:solidFill>
                <a:srgbClr val="FFB45C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96050" y="3562350"/>
            <a:ext cx="44577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D9E6EF"/>
                </a:solidFill>
              </a:defRPr>
            </a:pPr>
            <a:r>
              <a:rPr sz="1500" b="0">
                <a:solidFill>
                  <a:srgbClr val="D9E6EF"/>
                </a:solidFill>
              </a:rPr>
              <a:t>业务代码、外部依赖、数据规模、基础设施与运维体系共同决定整体 QPS / TPS、SLA 与可用性</a:t>
            </a:r>
            <a:endParaRPr sz="1500" b="0">
              <a:solidFill>
                <a:srgbClr val="D9E6EF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400800" y="4933950"/>
            <a:ext cx="4762500" cy="800100"/>
          </a:xfrm>
          <a:prstGeom prst="roundRect">
            <a:avLst>
              <a:gd name="adj" fmla="val 16667"/>
            </a:avLst>
          </a:prstGeom>
          <a:solidFill>
            <a:srgbClr val="0D2236"/>
          </a:solidFill>
          <a:ln w="9525">
            <a:solidFill>
              <a:srgbClr val="FFB45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629400" y="5105400"/>
            <a:ext cx="430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5F9FC"/>
                </a:solidFill>
              </a:defRPr>
            </a:pPr>
            <a:r>
              <a:rPr sz="1500" b="1">
                <a:solidFill>
                  <a:srgbClr val="F5F9FC"/>
                </a:solidFill>
              </a:rPr>
              <a:t>这是特定业务的时延事实，</a:t>
            </a:r>
            <a:endParaRPr sz="1500" b="1">
              <a:solidFill>
                <a:srgbClr val="F5F9FC"/>
              </a:solidFill>
            </a:endParaRPr>
          </a:p>
          <a:p>
            <a:pPr algn="ctr">
              <a:defRPr sz="1500" b="1">
                <a:solidFill>
                  <a:srgbClr val="F5F9FC"/>
                </a:solidFill>
              </a:defRPr>
            </a:pPr>
            <a:r>
              <a:rPr sz="1500" b="1">
                <a:solidFill>
                  <a:srgbClr val="F5F9FC"/>
                </a:solidFill>
              </a:rPr>
              <a:t>不是脱离业务实现的万能性能承诺。</a:t>
            </a:r>
            <a:endParaRPr sz="1500" b="1">
              <a:solidFill>
                <a:srgbClr val="F5F9FC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6D6C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附录 C · 客户验证</a:t>
            </a:r>
            <a:endParaRPr sz="1050" b="1">
              <a:solidFill>
                <a:srgbClr val="36D6C2"/>
              </a:solidFill>
            </a:endParaRPr>
          </a:p>
        </p:txBody>
      </p:sp>
      <p:sp>
        <p:nvSpPr>
          <p:cNvPr id="3" name="title-23"/>
          <p:cNvSpPr>
            <a:spLocks noGrp="1"/>
          </p:cNvSpPr>
          <p:nvPr/>
        </p:nvSpPr>
        <p:spPr>
          <a:xfrm>
            <a:off x="685800" y="628650"/>
            <a:ext cx="10744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5F9FC"/>
                </a:solidFill>
              </a:defRPr>
            </a:pPr>
            <a:r>
              <a:rPr sz="3300" b="1">
                <a:solidFill>
                  <a:srgbClr val="F5F9FC"/>
                </a:solidFill>
              </a:rPr>
              <a:t>客户基础证明它来自真实业务，而不是实验室架构</a:t>
            </a:r>
            <a:endParaRPr sz="3300" b="1">
              <a:solidFill>
                <a:srgbClr val="F5F9FC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6410325"/>
            <a:ext cx="10820400" cy="0"/>
          </a:xfrm>
          <a:prstGeom prst="line">
            <a:avLst/>
          </a:prstGeom>
          <a:noFill/>
          <a:ln w="9525">
            <a:solidFill>
              <a:srgbClr val="2344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8EA8BA"/>
                </a:solidFill>
              </a:defRPr>
            </a:pPr>
            <a:r>
              <a:rPr sz="900" b="0">
                <a:solidFill>
                  <a:srgbClr val="8EA8BA"/>
                </a:solidFill>
              </a:rPr>
              <a:t>ATLAS RICHIE · 企业级数字化技术中台</a:t>
            </a:r>
            <a:endParaRPr sz="900" b="0">
              <a:solidFill>
                <a:srgbClr val="8EA8B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6150" y="64865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8EA8BA"/>
                </a:solidFill>
              </a:defRPr>
            </a:pPr>
            <a:r>
              <a:rPr sz="975" b="1">
                <a:solidFill>
                  <a:srgbClr val="8EA8BA"/>
                </a:solidFill>
              </a:rPr>
              <a:t>23</a:t>
            </a:r>
            <a:endParaRPr sz="975" b="1">
              <a:solidFill>
                <a:srgbClr val="8EA8BA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1504950"/>
            <a:ext cx="7867650" cy="4438650"/>
          </a:xfrm>
          <a:prstGeom prst="roundRect">
            <a:avLst>
              <a:gd name="adj" fmla="val 2575"/>
            </a:avLst>
          </a:prstGeom>
          <a:solidFill>
            <a:srgbClr val="F5F9FC"/>
          </a:solidFill>
          <a:ln w="9525">
            <a:solidFill>
              <a:srgbClr val="23445C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20591"/>
            <a:ext cx="7753350" cy="4207368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8934450" y="1752600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36D6C2"/>
                </a:solidFill>
              </a:defRPr>
            </a:pPr>
            <a:r>
              <a:rPr sz="1875" b="1">
                <a:solidFill>
                  <a:srgbClr val="36D6C2"/>
                </a:solidFill>
              </a:rPr>
              <a:t>公开客户基础</a:t>
            </a:r>
            <a:endParaRPr sz="1875" b="1">
              <a:solidFill>
                <a:srgbClr val="36D6C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934450" y="2247900"/>
            <a:ext cx="23241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F5F9FC"/>
                </a:solidFill>
              </a:defRPr>
            </a:pPr>
            <a:r>
              <a:rPr sz="2325" b="1">
                <a:solidFill>
                  <a:srgbClr val="F5F9FC"/>
                </a:solidFill>
              </a:rPr>
              <a:t>多品牌</a:t>
            </a:r>
            <a:endParaRPr sz="2325" b="1">
              <a:solidFill>
                <a:srgbClr val="F5F9FC"/>
              </a:solidFill>
            </a:endParaRPr>
          </a:p>
          <a:p>
            <a:pPr algn="l">
              <a:defRPr sz="2325" b="1">
                <a:solidFill>
                  <a:srgbClr val="F5F9FC"/>
                </a:solidFill>
              </a:defRPr>
            </a:pPr>
            <a:r>
              <a:rPr sz="2325" b="1">
                <a:solidFill>
                  <a:srgbClr val="F5F9FC"/>
                </a:solidFill>
              </a:rPr>
              <a:t>多门店</a:t>
            </a:r>
            <a:endParaRPr sz="2325" b="1">
              <a:solidFill>
                <a:srgbClr val="F5F9FC"/>
              </a:solidFill>
            </a:endParaRPr>
          </a:p>
          <a:p>
            <a:pPr algn="l">
              <a:defRPr sz="2325" b="1">
                <a:solidFill>
                  <a:srgbClr val="F5F9FC"/>
                </a:solidFill>
              </a:defRPr>
            </a:pPr>
            <a:r>
              <a:rPr sz="2325" b="1">
                <a:solidFill>
                  <a:srgbClr val="F5F9FC"/>
                </a:solidFill>
              </a:rPr>
              <a:t>长期业务高峰</a:t>
            </a:r>
            <a:endParaRPr sz="2325" b="1">
              <a:solidFill>
                <a:srgbClr val="F5F9FC"/>
              </a:solidFill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8934450" y="3676650"/>
            <a:ext cx="2152650" cy="0"/>
          </a:xfrm>
          <a:prstGeom prst="line">
            <a:avLst/>
          </a:prstGeom>
          <a:noFill/>
          <a:ln w="19050">
            <a:solidFill>
              <a:srgbClr val="23445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934450" y="3943350"/>
            <a:ext cx="2324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FB45C"/>
                </a:solidFill>
              </a:defRPr>
            </a:pPr>
            <a:r>
              <a:rPr lang="zh-CN" sz="1575" b="1">
                <a:solidFill>
                  <a:srgbClr val="FFB45C"/>
                </a:solidFill>
              </a:rPr>
              <a:t>更多</a:t>
            </a:r>
            <a:r>
              <a:rPr lang="zh-CN" sz="1575" b="1">
                <a:solidFill>
                  <a:srgbClr val="FFB45C"/>
                </a:solidFill>
              </a:rPr>
              <a:t>新客户……</a:t>
            </a:r>
            <a:endParaRPr lang="zh-CN" sz="1575" b="1">
              <a:solidFill>
                <a:srgbClr val="FFB45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934450" y="4362450"/>
            <a:ext cx="23241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D9E6EF"/>
                </a:solidFill>
              </a:defRPr>
            </a:pPr>
            <a:r>
              <a:rPr sz="1425" b="0">
                <a:solidFill>
                  <a:srgbClr val="D9E6EF"/>
                </a:solidFill>
              </a:rPr>
              <a:t>寿司郎</a:t>
            </a:r>
            <a:endParaRPr sz="1425" b="0">
              <a:solidFill>
                <a:srgbClr val="D9E6EF"/>
              </a:solidFill>
            </a:endParaRPr>
          </a:p>
          <a:p>
            <a:pPr algn="l">
              <a:defRPr sz="1425" b="0">
                <a:solidFill>
                  <a:srgbClr val="D9E6EF"/>
                </a:solidFill>
              </a:defRPr>
            </a:pPr>
            <a:r>
              <a:rPr sz="1425" b="0">
                <a:solidFill>
                  <a:srgbClr val="D9E6EF"/>
                </a:solidFill>
              </a:rPr>
              <a:t>吉野家</a:t>
            </a:r>
            <a:endParaRPr sz="1425" b="0">
              <a:solidFill>
                <a:srgbClr val="D9E6EF"/>
              </a:solidFill>
            </a:endParaRPr>
          </a:p>
          <a:p>
            <a:pPr algn="l">
              <a:defRPr sz="1425" b="0">
                <a:solidFill>
                  <a:srgbClr val="D9E6EF"/>
                </a:solidFill>
              </a:defRPr>
            </a:pPr>
            <a:r>
              <a:rPr sz="1425" b="0">
                <a:solidFill>
                  <a:srgbClr val="D9E6EF"/>
                </a:solidFill>
              </a:rPr>
              <a:t>上海迪士尼国际度假区</a:t>
            </a:r>
            <a:endParaRPr sz="1425" b="0">
              <a:solidFill>
                <a:srgbClr val="D9E6E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4157</Words>
  <Application>WPS 演示</Application>
  <PresentationFormat>Converted Presentation</PresentationFormat>
  <Paragraphs>880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方正雅意黑 GB18030L2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richie696</cp:lastModifiedBy>
  <cp:revision>2</cp:revision>
  <dcterms:created xsi:type="dcterms:W3CDTF">2026-08-18T14:57:10Z</dcterms:created>
  <dcterms:modified xsi:type="dcterms:W3CDTF">2026-08-18T14:57:10Z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8E95C2264C2BC9E4C272846AA702E150_42</vt:lpwstr>
  </property>
  <property fmtid="{D5CDD505-2E9C-101B-9397-08002B2CF9AE}" pid="3" name="KSOProductBuildVer">
    <vt:lpwstr>2052-12.1.26055.26055</vt:lpwstr>
  </property>
</Properties>
</file>